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1" r:id="rId6"/>
    <p:sldId id="260" r:id="rId7"/>
    <p:sldId id="266" r:id="rId8"/>
    <p:sldId id="267" r:id="rId9"/>
    <p:sldId id="268" r:id="rId10"/>
    <p:sldId id="262" r:id="rId11"/>
    <p:sldId id="263" r:id="rId12"/>
    <p:sldId id="264" r:id="rId13"/>
    <p:sldId id="269" r:id="rId14"/>
    <p:sldId id="265" r:id="rId15"/>
  </p:sldIdLst>
  <p:sldSz cx="18288000" cy="10287000"/>
  <p:notesSz cx="6858000" cy="9144000"/>
  <p:embeddedFontLst>
    <p:embeddedFont>
      <p:font typeface="Agrandir" panose="020B0604020202020204" charset="0"/>
      <p:regular r:id="rId17"/>
    </p:embeddedFont>
    <p:embeddedFont>
      <p:font typeface="Agrandir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2165" autoAdjust="0"/>
  </p:normalViewPr>
  <p:slideViewPr>
    <p:cSldViewPr>
      <p:cViewPr varScale="1">
        <p:scale>
          <a:sx n="39" d="100"/>
          <a:sy n="39" d="100"/>
        </p:scale>
        <p:origin x="940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99A577-8F7D-4973-922E-E3F724490C41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1B6C36-2E21-4687-8189-58F1C934C4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056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EBITDA stands for Earnings Before Interest, Taxes, Depreciation, and Amortization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1B6C36-2E21-4687-8189-58F1C934C4B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3599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AC7F2-A3F7-815E-5E17-6608DDCEE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9D55AD-C0CC-CFC4-FEA1-1E3616621E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F79502-6550-FAFD-AF8F-4205360D51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EBITDA stands for Earnings Before Interest, Taxes, Depreciation, and Amortization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832691-70D2-FCD1-D74A-A7F5B7BF68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1B6C36-2E21-4687-8189-58F1C934C4B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363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1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2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38707" y="2306961"/>
            <a:ext cx="7775494" cy="6423234"/>
          </a:xfrm>
          <a:custGeom>
            <a:avLst/>
            <a:gdLst/>
            <a:ahLst/>
            <a:cxnLst/>
            <a:rect l="l" t="t" r="r" b="b"/>
            <a:pathLst>
              <a:path w="7775494" h="6423234">
                <a:moveTo>
                  <a:pt x="0" y="0"/>
                </a:moveTo>
                <a:lnTo>
                  <a:pt x="7775494" y="0"/>
                </a:lnTo>
                <a:lnTo>
                  <a:pt x="7775494" y="6423234"/>
                </a:lnTo>
                <a:lnTo>
                  <a:pt x="0" y="6423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632882" y="3423332"/>
            <a:ext cx="9037627" cy="3589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32"/>
              </a:lnSpc>
            </a:pPr>
            <a:r>
              <a:rPr lang="en-US" sz="8809" b="1" spc="-572">
                <a:solidFill>
                  <a:srgbClr val="171717"/>
                </a:solidFill>
                <a:latin typeface="Agrandir Bold"/>
                <a:ea typeface="Agrandir Bold"/>
                <a:cs typeface="Agrandir Bold"/>
                <a:sym typeface="Agrandir Bold"/>
              </a:rPr>
              <a:t>IPO Success</a:t>
            </a:r>
          </a:p>
          <a:p>
            <a:pPr marL="0" lvl="0" indent="0" algn="l">
              <a:lnSpc>
                <a:spcPts val="8632"/>
              </a:lnSpc>
            </a:pPr>
            <a:r>
              <a:rPr lang="en-US" sz="8809" b="1" spc="-572">
                <a:solidFill>
                  <a:srgbClr val="171717"/>
                </a:solidFill>
                <a:latin typeface="Agrandir Bold"/>
                <a:ea typeface="Agrandir Bold"/>
                <a:cs typeface="Agrandir Bold"/>
                <a:sym typeface="Agrandir Bold"/>
              </a:rPr>
              <a:t>Prediction and Analysis Platform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1213" y="2351452"/>
            <a:ext cx="7060781" cy="548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Final Project Proposal - Data Engineering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23407" y="7593642"/>
            <a:ext cx="6556394" cy="962406"/>
            <a:chOff x="0" y="0"/>
            <a:chExt cx="1726787" cy="25347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26787" cy="253473"/>
            </a:xfrm>
            <a:custGeom>
              <a:avLst/>
              <a:gdLst/>
              <a:ahLst/>
              <a:cxnLst/>
              <a:rect l="l" t="t" r="r" b="b"/>
              <a:pathLst>
                <a:path w="1726787" h="253473">
                  <a:moveTo>
                    <a:pt x="60222" y="0"/>
                  </a:moveTo>
                  <a:lnTo>
                    <a:pt x="1666565" y="0"/>
                  </a:lnTo>
                  <a:cubicBezTo>
                    <a:pt x="1699825" y="0"/>
                    <a:pt x="1726787" y="26962"/>
                    <a:pt x="1726787" y="60222"/>
                  </a:cubicBezTo>
                  <a:lnTo>
                    <a:pt x="1726787" y="193251"/>
                  </a:lnTo>
                  <a:cubicBezTo>
                    <a:pt x="1726787" y="209223"/>
                    <a:pt x="1720442" y="224541"/>
                    <a:pt x="1709149" y="235835"/>
                  </a:cubicBezTo>
                  <a:cubicBezTo>
                    <a:pt x="1697855" y="247128"/>
                    <a:pt x="1682537" y="253473"/>
                    <a:pt x="1666565" y="253473"/>
                  </a:cubicBezTo>
                  <a:lnTo>
                    <a:pt x="60222" y="253473"/>
                  </a:lnTo>
                  <a:cubicBezTo>
                    <a:pt x="26962" y="253473"/>
                    <a:pt x="0" y="226511"/>
                    <a:pt x="0" y="193251"/>
                  </a:cubicBezTo>
                  <a:lnTo>
                    <a:pt x="0" y="60222"/>
                  </a:lnTo>
                  <a:cubicBezTo>
                    <a:pt x="0" y="26962"/>
                    <a:pt x="26962" y="0"/>
                    <a:pt x="60222" y="0"/>
                  </a:cubicBezTo>
                  <a:close/>
                </a:path>
              </a:pathLst>
            </a:custGeom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1726787" cy="2725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47276" y="7656062"/>
            <a:ext cx="6508655" cy="675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Presented by Peter El Bikai</a:t>
            </a:r>
          </a:p>
        </p:txBody>
      </p:sp>
      <p:sp>
        <p:nvSpPr>
          <p:cNvPr id="9" name="Freeform 9"/>
          <p:cNvSpPr/>
          <p:nvPr/>
        </p:nvSpPr>
        <p:spPr>
          <a:xfrm>
            <a:off x="1023407" y="818979"/>
            <a:ext cx="594957" cy="327767"/>
          </a:xfrm>
          <a:custGeom>
            <a:avLst/>
            <a:gdLst/>
            <a:ahLst/>
            <a:cxnLst/>
            <a:rect l="l" t="t" r="r" b="b"/>
            <a:pathLst>
              <a:path w="594957" h="327767">
                <a:moveTo>
                  <a:pt x="0" y="0"/>
                </a:moveTo>
                <a:lnTo>
                  <a:pt x="594957" y="0"/>
                </a:lnTo>
                <a:lnTo>
                  <a:pt x="594957" y="327767"/>
                </a:lnTo>
                <a:lnTo>
                  <a:pt x="0" y="3277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4327317" y="779091"/>
            <a:ext cx="1564422" cy="321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CONTENT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234639" y="779091"/>
            <a:ext cx="1564422" cy="321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OTHERS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126917" y="779091"/>
            <a:ext cx="922798" cy="321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HOME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612817" y="779091"/>
            <a:ext cx="922798" cy="321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ABOUT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3407" y="818979"/>
            <a:ext cx="594957" cy="327767"/>
          </a:xfrm>
          <a:custGeom>
            <a:avLst/>
            <a:gdLst/>
            <a:ahLst/>
            <a:cxnLst/>
            <a:rect l="l" t="t" r="r" b="b"/>
            <a:pathLst>
              <a:path w="594957" h="327767">
                <a:moveTo>
                  <a:pt x="0" y="0"/>
                </a:moveTo>
                <a:lnTo>
                  <a:pt x="594957" y="0"/>
                </a:lnTo>
                <a:lnTo>
                  <a:pt x="594957" y="327767"/>
                </a:lnTo>
                <a:lnTo>
                  <a:pt x="0" y="3277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657249" y="3736471"/>
            <a:ext cx="7402151" cy="6283829"/>
          </a:xfrm>
          <a:custGeom>
            <a:avLst/>
            <a:gdLst/>
            <a:ahLst/>
            <a:cxnLst/>
            <a:rect l="l" t="t" r="r" b="b"/>
            <a:pathLst>
              <a:path w="8431366" h="7141052">
                <a:moveTo>
                  <a:pt x="0" y="0"/>
                </a:moveTo>
                <a:lnTo>
                  <a:pt x="8431365" y="0"/>
                </a:lnTo>
                <a:lnTo>
                  <a:pt x="8431365" y="7141052"/>
                </a:lnTo>
                <a:lnTo>
                  <a:pt x="0" y="71410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4327317" y="779091"/>
            <a:ext cx="1564422" cy="321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CONTENT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234639" y="779091"/>
            <a:ext cx="1564422" cy="321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OTHERS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26917" y="779091"/>
            <a:ext cx="922798" cy="321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HOME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612817" y="779091"/>
            <a:ext cx="922798" cy="321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ABOUT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2095893"/>
            <a:ext cx="11907419" cy="2832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99"/>
              </a:lnSpc>
            </a:pPr>
            <a:r>
              <a:rPr lang="en-US" sz="9999" b="1" spc="-649">
                <a:solidFill>
                  <a:srgbClr val="171717"/>
                </a:solidFill>
                <a:latin typeface="Agrandir Bold"/>
                <a:ea typeface="Agrandir Bold"/>
                <a:cs typeface="Agrandir Bold"/>
                <a:sym typeface="Agrandir Bold"/>
              </a:rPr>
              <a:t>Stock Market and IPO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40794" y="5113905"/>
            <a:ext cx="8689280" cy="3415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The stock market is a marketplace where buyers and sellers trade shares (small ownership stakes) of publicly listed companies. When you buy a stock, you own a tiny piece of that company and can profit if its value rises. </a:t>
            </a:r>
          </a:p>
          <a:p>
            <a:pPr algn="just">
              <a:lnSpc>
                <a:spcPts val="3360"/>
              </a:lnSpc>
            </a:pPr>
            <a:endParaRPr lang="en-US" sz="2400">
              <a:solidFill>
                <a:srgbClr val="171717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algn="just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An IPO is the process by which a private company goes public — offering its shares to the general public for the first time.</a:t>
            </a:r>
          </a:p>
        </p:txBody>
      </p:sp>
      <p:sp>
        <p:nvSpPr>
          <p:cNvPr id="10" name="Freeform 10"/>
          <p:cNvSpPr/>
          <p:nvPr/>
        </p:nvSpPr>
        <p:spPr>
          <a:xfrm rot="2984692">
            <a:off x="14262729" y="1469024"/>
            <a:ext cx="3381397" cy="3393738"/>
          </a:xfrm>
          <a:custGeom>
            <a:avLst/>
            <a:gdLst/>
            <a:ahLst/>
            <a:cxnLst/>
            <a:rect l="l" t="t" r="r" b="b"/>
            <a:pathLst>
              <a:path w="3381397" h="3393738">
                <a:moveTo>
                  <a:pt x="0" y="0"/>
                </a:moveTo>
                <a:lnTo>
                  <a:pt x="3381397" y="0"/>
                </a:lnTo>
                <a:lnTo>
                  <a:pt x="3381397" y="3393738"/>
                </a:lnTo>
                <a:lnTo>
                  <a:pt x="0" y="33937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rot="4382172">
            <a:off x="9625210" y="7262739"/>
            <a:ext cx="2950826" cy="2961595"/>
          </a:xfrm>
          <a:custGeom>
            <a:avLst/>
            <a:gdLst/>
            <a:ahLst/>
            <a:cxnLst/>
            <a:rect l="l" t="t" r="r" b="b"/>
            <a:pathLst>
              <a:path w="2950826" h="2961595">
                <a:moveTo>
                  <a:pt x="0" y="0"/>
                </a:moveTo>
                <a:lnTo>
                  <a:pt x="2950826" y="0"/>
                </a:lnTo>
                <a:lnTo>
                  <a:pt x="2950826" y="2961595"/>
                </a:lnTo>
                <a:lnTo>
                  <a:pt x="0" y="29615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3407" y="818979"/>
            <a:ext cx="594957" cy="327767"/>
          </a:xfrm>
          <a:custGeom>
            <a:avLst/>
            <a:gdLst/>
            <a:ahLst/>
            <a:cxnLst/>
            <a:rect l="l" t="t" r="r" b="b"/>
            <a:pathLst>
              <a:path w="594957" h="327767">
                <a:moveTo>
                  <a:pt x="0" y="0"/>
                </a:moveTo>
                <a:lnTo>
                  <a:pt x="594957" y="0"/>
                </a:lnTo>
                <a:lnTo>
                  <a:pt x="594957" y="327767"/>
                </a:lnTo>
                <a:lnTo>
                  <a:pt x="0" y="3277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2984692">
            <a:off x="3929823" y="1214273"/>
            <a:ext cx="3381397" cy="3393738"/>
          </a:xfrm>
          <a:custGeom>
            <a:avLst/>
            <a:gdLst/>
            <a:ahLst/>
            <a:cxnLst/>
            <a:rect l="l" t="t" r="r" b="b"/>
            <a:pathLst>
              <a:path w="3381397" h="3393738">
                <a:moveTo>
                  <a:pt x="0" y="0"/>
                </a:moveTo>
                <a:lnTo>
                  <a:pt x="3381397" y="0"/>
                </a:lnTo>
                <a:lnTo>
                  <a:pt x="3381397" y="3393738"/>
                </a:lnTo>
                <a:lnTo>
                  <a:pt x="0" y="33937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H="1">
            <a:off x="88186" y="4078744"/>
            <a:ext cx="7251580" cy="5486400"/>
          </a:xfrm>
          <a:custGeom>
            <a:avLst/>
            <a:gdLst/>
            <a:ahLst/>
            <a:cxnLst/>
            <a:rect l="l" t="t" r="r" b="b"/>
            <a:pathLst>
              <a:path w="8831700" h="6563831">
                <a:moveTo>
                  <a:pt x="8831700" y="0"/>
                </a:moveTo>
                <a:lnTo>
                  <a:pt x="0" y="0"/>
                </a:lnTo>
                <a:lnTo>
                  <a:pt x="0" y="6563831"/>
                </a:lnTo>
                <a:lnTo>
                  <a:pt x="8831700" y="6563831"/>
                </a:lnTo>
                <a:lnTo>
                  <a:pt x="88317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4327317" y="779091"/>
            <a:ext cx="1564422" cy="321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CONTENT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234639" y="779091"/>
            <a:ext cx="1564422" cy="321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OTHERS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126917" y="779091"/>
            <a:ext cx="922798" cy="321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HOME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612817" y="779091"/>
            <a:ext cx="922798" cy="321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ABOUT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377421" y="1400000"/>
            <a:ext cx="8881879" cy="7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sz="4000" b="1" spc="-200">
                <a:solidFill>
                  <a:srgbClr val="171717"/>
                </a:solidFill>
                <a:latin typeface="Agrandir Bold"/>
                <a:ea typeface="Agrandir Bold"/>
                <a:cs typeface="Agrandir Bold"/>
                <a:sym typeface="Agrandir Bold"/>
              </a:rPr>
              <a:t>What Problem Are We Solving?</a:t>
            </a:r>
          </a:p>
          <a:p>
            <a:pPr algn="l">
              <a:lnSpc>
                <a:spcPts val="1000"/>
              </a:lnSpc>
            </a:pPr>
            <a:endParaRPr lang="en-US" sz="1000"/>
          </a:p>
        </p:txBody>
      </p:sp>
      <p:sp>
        <p:nvSpPr>
          <p:cNvPr id="10" name="TextBox 10"/>
          <p:cNvSpPr txBox="1"/>
          <p:nvPr/>
        </p:nvSpPr>
        <p:spPr>
          <a:xfrm>
            <a:off x="8377421" y="3453602"/>
            <a:ext cx="8689280" cy="1739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IPO investing is high-risk and data-heavy. Retail investors and analysts lack a unified, data-driven tool to assess whether an IPO will succeed in the short-to-medium term.</a:t>
            </a:r>
          </a:p>
          <a:p>
            <a:pPr algn="just">
              <a:lnSpc>
                <a:spcPts val="3360"/>
              </a:lnSpc>
              <a:spcBef>
                <a:spcPct val="0"/>
              </a:spcBef>
            </a:pPr>
            <a:endParaRPr lang="en-US" sz="2400">
              <a:solidFill>
                <a:srgbClr val="171717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184822" y="2731198"/>
            <a:ext cx="2556897" cy="8708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71"/>
              </a:lnSpc>
              <a:spcBef>
                <a:spcPct val="0"/>
              </a:spcBef>
            </a:pPr>
            <a:r>
              <a:rPr lang="en-US" sz="2479" dirty="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THE PROBLEM</a:t>
            </a:r>
          </a:p>
          <a:p>
            <a:pPr algn="ctr">
              <a:lnSpc>
                <a:spcPts val="3471"/>
              </a:lnSpc>
              <a:spcBef>
                <a:spcPct val="0"/>
              </a:spcBef>
            </a:pPr>
            <a:endParaRPr lang="en-US" sz="2479" dirty="0">
              <a:solidFill>
                <a:srgbClr val="171717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447504" y="5534100"/>
            <a:ext cx="2320826" cy="489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1"/>
              </a:lnSpc>
              <a:spcBef>
                <a:spcPct val="0"/>
              </a:spcBef>
            </a:pPr>
            <a:r>
              <a:rPr lang="en-US" sz="2479" dirty="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OUR SOLUTION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77421" y="6134100"/>
            <a:ext cx="8689280" cy="2158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sz="240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An end-to-end Palantir Foundry pipeline that ingests IPO &amp; market data, trains an ML model to predict IPO success, and surfaces insights through 4 interactive Workshop dashboards.</a:t>
            </a:r>
          </a:p>
          <a:p>
            <a:pPr algn="just">
              <a:lnSpc>
                <a:spcPts val="3360"/>
              </a:lnSpc>
              <a:spcBef>
                <a:spcPct val="0"/>
              </a:spcBef>
            </a:pPr>
            <a:endParaRPr lang="en-US" sz="2400">
              <a:solidFill>
                <a:srgbClr val="171717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3407" y="818979"/>
            <a:ext cx="594957" cy="327767"/>
          </a:xfrm>
          <a:custGeom>
            <a:avLst/>
            <a:gdLst/>
            <a:ahLst/>
            <a:cxnLst/>
            <a:rect l="l" t="t" r="r" b="b"/>
            <a:pathLst>
              <a:path w="594957" h="327767">
                <a:moveTo>
                  <a:pt x="0" y="0"/>
                </a:moveTo>
                <a:lnTo>
                  <a:pt x="594957" y="0"/>
                </a:lnTo>
                <a:lnTo>
                  <a:pt x="594957" y="327767"/>
                </a:lnTo>
                <a:lnTo>
                  <a:pt x="0" y="3277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554092" y="2664396"/>
            <a:ext cx="16705208" cy="4343354"/>
          </a:xfrm>
          <a:custGeom>
            <a:avLst/>
            <a:gdLst/>
            <a:ahLst/>
            <a:cxnLst/>
            <a:rect l="l" t="t" r="r" b="b"/>
            <a:pathLst>
              <a:path w="16705208" h="4343354">
                <a:moveTo>
                  <a:pt x="0" y="0"/>
                </a:moveTo>
                <a:lnTo>
                  <a:pt x="16705208" y="0"/>
                </a:lnTo>
                <a:lnTo>
                  <a:pt x="16705208" y="4343354"/>
                </a:lnTo>
                <a:lnTo>
                  <a:pt x="0" y="43433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4327317" y="779091"/>
            <a:ext cx="1564422" cy="321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CONTENT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234639" y="779091"/>
            <a:ext cx="1564422" cy="321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OTHERS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26917" y="779091"/>
            <a:ext cx="922798" cy="321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HOME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612817" y="779091"/>
            <a:ext cx="922798" cy="321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ABOUT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1291474"/>
            <a:ext cx="10407105" cy="1593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99"/>
              </a:lnSpc>
            </a:pPr>
            <a:r>
              <a:rPr lang="en-US" sz="9999" b="1" spc="-649">
                <a:solidFill>
                  <a:srgbClr val="171717"/>
                </a:solidFill>
                <a:latin typeface="Agrandir Bold"/>
                <a:ea typeface="Agrandir Bold"/>
                <a:cs typeface="Agrandir Bold"/>
                <a:sym typeface="Agrandir Bold"/>
              </a:rPr>
              <a:t>Datasets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3407" y="7621021"/>
            <a:ext cx="12113179" cy="1637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2"/>
              </a:lnSpc>
              <a:spcBef>
                <a:spcPct val="0"/>
              </a:spcBef>
            </a:pPr>
            <a:r>
              <a:rPr lang="en-US" sz="2422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US_IPO_DATA_1986_2021.CSV </a:t>
            </a:r>
          </a:p>
          <a:p>
            <a:pPr algn="l">
              <a:lnSpc>
                <a:spcPts val="3392"/>
              </a:lnSpc>
              <a:spcBef>
                <a:spcPct val="0"/>
              </a:spcBef>
            </a:pPr>
            <a:r>
              <a:rPr lang="en-US" sz="2422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CORE TRAINING DATASET — HISTORICAL IPO OUTCOMES</a:t>
            </a:r>
          </a:p>
          <a:p>
            <a:pPr algn="l">
              <a:lnSpc>
                <a:spcPts val="3392"/>
              </a:lnSpc>
              <a:spcBef>
                <a:spcPct val="0"/>
              </a:spcBef>
            </a:pPr>
            <a:r>
              <a:rPr lang="en-US" sz="2422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FIELDS: OFFER PRICE, SECTOR, EXCHANGE, TICKER (PK)</a:t>
            </a:r>
          </a:p>
          <a:p>
            <a:pPr algn="ctr">
              <a:lnSpc>
                <a:spcPts val="2576"/>
              </a:lnSpc>
              <a:spcBef>
                <a:spcPct val="0"/>
              </a:spcBef>
            </a:pPr>
            <a:endParaRPr lang="en-US" sz="2422">
              <a:solidFill>
                <a:srgbClr val="171717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3407" y="818979"/>
            <a:ext cx="594957" cy="327767"/>
          </a:xfrm>
          <a:custGeom>
            <a:avLst/>
            <a:gdLst/>
            <a:ahLst/>
            <a:cxnLst/>
            <a:rect l="l" t="t" r="r" b="b"/>
            <a:pathLst>
              <a:path w="594957" h="327767">
                <a:moveTo>
                  <a:pt x="0" y="0"/>
                </a:moveTo>
                <a:lnTo>
                  <a:pt x="594957" y="0"/>
                </a:lnTo>
                <a:lnTo>
                  <a:pt x="594957" y="327767"/>
                </a:lnTo>
                <a:lnTo>
                  <a:pt x="0" y="3277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28700" y="2535433"/>
            <a:ext cx="15988150" cy="5216134"/>
          </a:xfrm>
          <a:custGeom>
            <a:avLst/>
            <a:gdLst/>
            <a:ahLst/>
            <a:cxnLst/>
            <a:rect l="l" t="t" r="r" b="b"/>
            <a:pathLst>
              <a:path w="15988150" h="5216134">
                <a:moveTo>
                  <a:pt x="0" y="0"/>
                </a:moveTo>
                <a:lnTo>
                  <a:pt x="15988150" y="0"/>
                </a:lnTo>
                <a:lnTo>
                  <a:pt x="15988150" y="5216134"/>
                </a:lnTo>
                <a:lnTo>
                  <a:pt x="0" y="52161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4327317" y="779091"/>
            <a:ext cx="1564422" cy="321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CONTENT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234639" y="779091"/>
            <a:ext cx="1564422" cy="321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OTHERS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26917" y="779091"/>
            <a:ext cx="922798" cy="321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HOME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612817" y="779091"/>
            <a:ext cx="922798" cy="321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ABOUT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1291474"/>
            <a:ext cx="10407105" cy="1593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99"/>
              </a:lnSpc>
            </a:pPr>
            <a:r>
              <a:rPr lang="en-US" sz="9999" b="1" spc="-649">
                <a:solidFill>
                  <a:srgbClr val="171717"/>
                </a:solidFill>
                <a:latin typeface="Agrandir Bold"/>
                <a:ea typeface="Agrandir Bold"/>
                <a:cs typeface="Agrandir Bold"/>
                <a:sym typeface="Agrandir Bold"/>
              </a:rPr>
              <a:t>Datasets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20885" y="7913492"/>
            <a:ext cx="12113179" cy="1231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2"/>
              </a:lnSpc>
              <a:spcBef>
                <a:spcPct val="0"/>
              </a:spcBef>
            </a:pPr>
            <a:r>
              <a:rPr lang="en-US" sz="2422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IPO_STOCK_2010_2018_V2.CSV</a:t>
            </a:r>
          </a:p>
          <a:p>
            <a:pPr algn="l">
              <a:lnSpc>
                <a:spcPts val="3392"/>
              </a:lnSpc>
              <a:spcBef>
                <a:spcPct val="0"/>
              </a:spcBef>
            </a:pPr>
            <a:r>
              <a:rPr lang="en-US" sz="2422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FIELDS: FIRST DAY/MONTH/YEAR OPEN/CLOSE, SECTOR, EMPLOYEES, CEOPAY</a:t>
            </a:r>
          </a:p>
          <a:p>
            <a:pPr algn="ctr">
              <a:lnSpc>
                <a:spcPts val="2576"/>
              </a:lnSpc>
              <a:spcBef>
                <a:spcPct val="0"/>
              </a:spcBef>
            </a:pPr>
            <a:endParaRPr lang="en-US" sz="2422">
              <a:solidFill>
                <a:srgbClr val="171717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3407" y="818979"/>
            <a:ext cx="594957" cy="327767"/>
          </a:xfrm>
          <a:custGeom>
            <a:avLst/>
            <a:gdLst/>
            <a:ahLst/>
            <a:cxnLst/>
            <a:rect l="l" t="t" r="r" b="b"/>
            <a:pathLst>
              <a:path w="594957" h="327767">
                <a:moveTo>
                  <a:pt x="0" y="0"/>
                </a:moveTo>
                <a:lnTo>
                  <a:pt x="594957" y="0"/>
                </a:lnTo>
                <a:lnTo>
                  <a:pt x="594957" y="327767"/>
                </a:lnTo>
                <a:lnTo>
                  <a:pt x="0" y="3277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4327317" y="779091"/>
            <a:ext cx="1564422" cy="321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CONTENT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234639" y="779091"/>
            <a:ext cx="1564422" cy="321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OTHERS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26917" y="779091"/>
            <a:ext cx="922798" cy="321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HOME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612817" y="779091"/>
            <a:ext cx="922798" cy="321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ABOUT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1291474"/>
            <a:ext cx="10407105" cy="1593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99"/>
              </a:lnSpc>
            </a:pPr>
            <a:r>
              <a:rPr lang="en-US" sz="9999" b="1" spc="-649">
                <a:solidFill>
                  <a:srgbClr val="171717"/>
                </a:solidFill>
                <a:latin typeface="Agrandir Bold"/>
                <a:ea typeface="Agrandir Bold"/>
                <a:cs typeface="Agrandir Bold"/>
                <a:sym typeface="Agrandir Bold"/>
              </a:rPr>
              <a:t>Datasets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3217968"/>
            <a:ext cx="16230600" cy="7855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5"/>
              </a:lnSpc>
              <a:spcBef>
                <a:spcPct val="0"/>
              </a:spcBef>
            </a:pPr>
            <a:r>
              <a:rPr lang="en-US" sz="3246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IPO_FULL_ML.CSV </a:t>
            </a:r>
          </a:p>
          <a:p>
            <a:pPr algn="l">
              <a:lnSpc>
                <a:spcPts val="4545"/>
              </a:lnSpc>
              <a:spcBef>
                <a:spcPct val="0"/>
              </a:spcBef>
            </a:pPr>
            <a:r>
              <a:rPr lang="en-US" sz="3246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DATASET FOR MACHINE LEARNING </a:t>
            </a:r>
          </a:p>
          <a:p>
            <a:pPr algn="l">
              <a:lnSpc>
                <a:spcPts val="4545"/>
              </a:lnSpc>
              <a:spcBef>
                <a:spcPct val="0"/>
              </a:spcBef>
            </a:pPr>
            <a:endParaRPr lang="en-US" sz="3246">
              <a:solidFill>
                <a:srgbClr val="171717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algn="l">
              <a:lnSpc>
                <a:spcPts val="4545"/>
              </a:lnSpc>
              <a:spcBef>
                <a:spcPct val="0"/>
              </a:spcBef>
            </a:pPr>
            <a:r>
              <a:rPr lang="en-US" sz="3246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FIELDS:  OFFER PRICE, SECTOR, EXCHANGE, TICKER (PK), DAYSBETTERTHANSP</a:t>
            </a:r>
          </a:p>
          <a:p>
            <a:pPr algn="l">
              <a:lnSpc>
                <a:spcPts val="4545"/>
              </a:lnSpc>
              <a:spcBef>
                <a:spcPct val="0"/>
              </a:spcBef>
            </a:pPr>
            <a:r>
              <a:rPr lang="en-US" sz="3246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DAYSPROFIT, DAYSPROFITGROUPED, EXACTDIFFERNCE, YEAR, MONTH, DAY, LASTSALE, MARKETCAP, ADR TSO, SECTOR, INDUSTRY, SUMMARY QUOTE</a:t>
            </a:r>
          </a:p>
          <a:p>
            <a:pPr algn="l">
              <a:lnSpc>
                <a:spcPts val="4545"/>
              </a:lnSpc>
              <a:spcBef>
                <a:spcPct val="0"/>
              </a:spcBef>
            </a:pPr>
            <a:r>
              <a:rPr lang="en-US" sz="3246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IPODATE, CEOTAKEOVER, CEOAGE, CEONAME, CEOGENDER, CEOINCHARGEDURINGIPO, PRESIDENTTAKEOVER, PRESIDENTAGE, PRESIDENTNAME, PRESIDENTGENDER, PRESIDENTINCHARGEDURINGIPO, CITY,</a:t>
            </a:r>
          </a:p>
          <a:p>
            <a:pPr algn="l">
              <a:lnSpc>
                <a:spcPts val="4545"/>
              </a:lnSpc>
              <a:spcBef>
                <a:spcPct val="0"/>
              </a:spcBef>
            </a:pPr>
            <a:r>
              <a:rPr lang="en-US" sz="3246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STATECOUNTRY, FISCALDATEEND, REVENUE, NETINCOME, LASTFISCALYEARGROWTH, EMPLOYEES</a:t>
            </a:r>
          </a:p>
          <a:p>
            <a:pPr algn="l">
              <a:lnSpc>
                <a:spcPts val="4545"/>
              </a:lnSpc>
              <a:spcBef>
                <a:spcPct val="0"/>
              </a:spcBef>
            </a:pPr>
            <a:endParaRPr lang="en-US" sz="3246">
              <a:solidFill>
                <a:srgbClr val="171717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algn="l">
              <a:lnSpc>
                <a:spcPts val="4545"/>
              </a:lnSpc>
              <a:spcBef>
                <a:spcPct val="0"/>
              </a:spcBef>
            </a:pPr>
            <a:endParaRPr lang="en-US" sz="3246">
              <a:solidFill>
                <a:srgbClr val="171717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algn="ctr">
              <a:lnSpc>
                <a:spcPts val="3452"/>
              </a:lnSpc>
              <a:spcBef>
                <a:spcPct val="0"/>
              </a:spcBef>
            </a:pPr>
            <a:endParaRPr lang="en-US" sz="3246">
              <a:solidFill>
                <a:srgbClr val="171717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E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3A219A-A131-0A9E-4CB7-AA9CE1D5C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5DC0082-1447-FF9D-87F4-E71EEA88A610}"/>
              </a:ext>
            </a:extLst>
          </p:cNvPr>
          <p:cNvSpPr/>
          <p:nvPr/>
        </p:nvSpPr>
        <p:spPr>
          <a:xfrm>
            <a:off x="1023407" y="818979"/>
            <a:ext cx="594957" cy="327767"/>
          </a:xfrm>
          <a:custGeom>
            <a:avLst/>
            <a:gdLst/>
            <a:ahLst/>
            <a:cxnLst/>
            <a:rect l="l" t="t" r="r" b="b"/>
            <a:pathLst>
              <a:path w="594957" h="327767">
                <a:moveTo>
                  <a:pt x="0" y="0"/>
                </a:moveTo>
                <a:lnTo>
                  <a:pt x="594957" y="0"/>
                </a:lnTo>
                <a:lnTo>
                  <a:pt x="594957" y="327767"/>
                </a:lnTo>
                <a:lnTo>
                  <a:pt x="0" y="3277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C9EEE4C-CE4E-DF10-4501-D7EDBBC217C0}"/>
              </a:ext>
            </a:extLst>
          </p:cNvPr>
          <p:cNvSpPr txBox="1"/>
          <p:nvPr/>
        </p:nvSpPr>
        <p:spPr>
          <a:xfrm>
            <a:off x="14327317" y="779091"/>
            <a:ext cx="1564422" cy="321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CONTENT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E7AE170-B3DE-42B6-1993-51B0771935B4}"/>
              </a:ext>
            </a:extLst>
          </p:cNvPr>
          <p:cNvSpPr txBox="1"/>
          <p:nvPr/>
        </p:nvSpPr>
        <p:spPr>
          <a:xfrm>
            <a:off x="16234639" y="779091"/>
            <a:ext cx="1564422" cy="321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OTHERS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DDF4A06-FBA5-E3E0-8C04-7B5E8D3CAA21}"/>
              </a:ext>
            </a:extLst>
          </p:cNvPr>
          <p:cNvSpPr txBox="1"/>
          <p:nvPr/>
        </p:nvSpPr>
        <p:spPr>
          <a:xfrm>
            <a:off x="11126917" y="779091"/>
            <a:ext cx="922798" cy="321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HOME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EDA7C16-F776-8A46-CE6F-0259CB598F4C}"/>
              </a:ext>
            </a:extLst>
          </p:cNvPr>
          <p:cNvSpPr txBox="1"/>
          <p:nvPr/>
        </p:nvSpPr>
        <p:spPr>
          <a:xfrm>
            <a:off x="12612817" y="779091"/>
            <a:ext cx="922798" cy="321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ABOUT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FDF4909-2169-71D2-7445-80E9E2610FC8}"/>
              </a:ext>
            </a:extLst>
          </p:cNvPr>
          <p:cNvSpPr txBox="1"/>
          <p:nvPr/>
        </p:nvSpPr>
        <p:spPr>
          <a:xfrm>
            <a:off x="1028700" y="1291474"/>
            <a:ext cx="10407105" cy="1593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99"/>
              </a:lnSpc>
            </a:pPr>
            <a:r>
              <a:rPr lang="en-US" sz="9999" b="1" spc="-649">
                <a:solidFill>
                  <a:srgbClr val="171717"/>
                </a:solidFill>
                <a:latin typeface="Agrandir Bold"/>
                <a:ea typeface="Agrandir Bold"/>
                <a:cs typeface="Agrandir Bold"/>
                <a:sym typeface="Agrandir Bold"/>
              </a:rPr>
              <a:t>Datasets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D1905B1-54D7-3219-C81F-7F2A1B45E612}"/>
              </a:ext>
            </a:extLst>
          </p:cNvPr>
          <p:cNvSpPr txBox="1"/>
          <p:nvPr/>
        </p:nvSpPr>
        <p:spPr>
          <a:xfrm>
            <a:off x="1327370" y="3238500"/>
            <a:ext cx="12113179" cy="1641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2"/>
              </a:lnSpc>
              <a:spcBef>
                <a:spcPct val="0"/>
              </a:spcBef>
            </a:pPr>
            <a:r>
              <a:rPr lang="en-US" sz="2422" dirty="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Sp500_index.csv</a:t>
            </a:r>
          </a:p>
          <a:p>
            <a:pPr algn="l">
              <a:lnSpc>
                <a:spcPts val="3392"/>
              </a:lnSpc>
              <a:spcBef>
                <a:spcPct val="0"/>
              </a:spcBef>
            </a:pPr>
            <a:endParaRPr lang="en-US" sz="2422" dirty="0">
              <a:solidFill>
                <a:srgbClr val="171717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algn="l">
              <a:lnSpc>
                <a:spcPts val="3392"/>
              </a:lnSpc>
              <a:spcBef>
                <a:spcPct val="0"/>
              </a:spcBef>
            </a:pPr>
            <a:r>
              <a:rPr lang="en-US" sz="2422" dirty="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FIELDS: date/ </a:t>
            </a:r>
            <a:r>
              <a:rPr lang="en-US" sz="2422" dirty="0" err="1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s&amp;p</a:t>
            </a:r>
            <a:r>
              <a:rPr lang="en-US" sz="2422" dirty="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 500 index</a:t>
            </a:r>
          </a:p>
          <a:p>
            <a:pPr algn="ctr">
              <a:lnSpc>
                <a:spcPts val="2576"/>
              </a:lnSpc>
              <a:spcBef>
                <a:spcPct val="0"/>
              </a:spcBef>
            </a:pPr>
            <a:endParaRPr lang="en-US" sz="2422" dirty="0">
              <a:solidFill>
                <a:srgbClr val="171717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554C043-6DE1-4062-6B21-735219D6E0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8912" y="1867662"/>
            <a:ext cx="5729449" cy="7309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506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E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AE8CDD-19D6-97EC-0190-D2D578290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93F6390-E2E9-8F06-C4B7-12BDB4D1DE25}"/>
              </a:ext>
            </a:extLst>
          </p:cNvPr>
          <p:cNvSpPr/>
          <p:nvPr/>
        </p:nvSpPr>
        <p:spPr>
          <a:xfrm>
            <a:off x="1023407" y="818979"/>
            <a:ext cx="594957" cy="327767"/>
          </a:xfrm>
          <a:custGeom>
            <a:avLst/>
            <a:gdLst/>
            <a:ahLst/>
            <a:cxnLst/>
            <a:rect l="l" t="t" r="r" b="b"/>
            <a:pathLst>
              <a:path w="594957" h="327767">
                <a:moveTo>
                  <a:pt x="0" y="0"/>
                </a:moveTo>
                <a:lnTo>
                  <a:pt x="594957" y="0"/>
                </a:lnTo>
                <a:lnTo>
                  <a:pt x="594957" y="327767"/>
                </a:lnTo>
                <a:lnTo>
                  <a:pt x="0" y="3277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06CD334-1097-4DCF-B147-B89FB233716A}"/>
              </a:ext>
            </a:extLst>
          </p:cNvPr>
          <p:cNvSpPr txBox="1"/>
          <p:nvPr/>
        </p:nvSpPr>
        <p:spPr>
          <a:xfrm>
            <a:off x="14327317" y="779091"/>
            <a:ext cx="1564422" cy="321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CONTENT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AA7C1E1-A1FC-5F15-455E-05B12A74344F}"/>
              </a:ext>
            </a:extLst>
          </p:cNvPr>
          <p:cNvSpPr txBox="1"/>
          <p:nvPr/>
        </p:nvSpPr>
        <p:spPr>
          <a:xfrm>
            <a:off x="16234639" y="779091"/>
            <a:ext cx="1564422" cy="321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OTHERS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63B1742-DFAC-6424-9AED-85D23AC588A3}"/>
              </a:ext>
            </a:extLst>
          </p:cNvPr>
          <p:cNvSpPr txBox="1"/>
          <p:nvPr/>
        </p:nvSpPr>
        <p:spPr>
          <a:xfrm>
            <a:off x="11126917" y="779091"/>
            <a:ext cx="922798" cy="321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HOME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60FCF0CA-4176-E7F4-1C6C-C3867BFA2BF9}"/>
              </a:ext>
            </a:extLst>
          </p:cNvPr>
          <p:cNvSpPr txBox="1"/>
          <p:nvPr/>
        </p:nvSpPr>
        <p:spPr>
          <a:xfrm>
            <a:off x="12612817" y="779091"/>
            <a:ext cx="922798" cy="321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ABOUT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B86BF57-2277-C38F-D5E4-1D5C53DBB403}"/>
              </a:ext>
            </a:extLst>
          </p:cNvPr>
          <p:cNvSpPr txBox="1"/>
          <p:nvPr/>
        </p:nvSpPr>
        <p:spPr>
          <a:xfrm>
            <a:off x="1028700" y="1291474"/>
            <a:ext cx="10407105" cy="1593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99"/>
              </a:lnSpc>
            </a:pPr>
            <a:r>
              <a:rPr lang="en-US" sz="9999" b="1" spc="-649">
                <a:solidFill>
                  <a:srgbClr val="171717"/>
                </a:solidFill>
                <a:latin typeface="Agrandir Bold"/>
                <a:ea typeface="Agrandir Bold"/>
                <a:cs typeface="Agrandir Bold"/>
                <a:sym typeface="Agrandir Bold"/>
              </a:rPr>
              <a:t>Datasets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998AC8F-C3C7-9BF7-2994-1C89F397BE8F}"/>
              </a:ext>
            </a:extLst>
          </p:cNvPr>
          <p:cNvSpPr txBox="1"/>
          <p:nvPr/>
        </p:nvSpPr>
        <p:spPr>
          <a:xfrm>
            <a:off x="1023407" y="7944933"/>
            <a:ext cx="13491439" cy="25135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92"/>
              </a:lnSpc>
              <a:spcBef>
                <a:spcPct val="0"/>
              </a:spcBef>
            </a:pPr>
            <a:r>
              <a:rPr lang="en-US" sz="2422" dirty="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Sp500_companies.csv</a:t>
            </a:r>
          </a:p>
          <a:p>
            <a:pPr algn="l">
              <a:lnSpc>
                <a:spcPts val="3392"/>
              </a:lnSpc>
              <a:spcBef>
                <a:spcPct val="0"/>
              </a:spcBef>
            </a:pPr>
            <a:endParaRPr lang="en-US" sz="2422" dirty="0">
              <a:solidFill>
                <a:srgbClr val="171717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algn="l">
              <a:lnSpc>
                <a:spcPts val="3392"/>
              </a:lnSpc>
              <a:spcBef>
                <a:spcPct val="0"/>
              </a:spcBef>
            </a:pPr>
            <a:r>
              <a:rPr lang="en-US" sz="2422" dirty="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FIELDS: exchange, symbol, name, sector/</a:t>
            </a:r>
            <a:r>
              <a:rPr lang="en-US" sz="2422" dirty="0" err="1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indsutry</a:t>
            </a:r>
            <a:r>
              <a:rPr lang="en-US" sz="2422" dirty="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,, price, </a:t>
            </a:r>
            <a:r>
              <a:rPr lang="en-US" sz="2422" dirty="0" err="1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marketcap</a:t>
            </a:r>
            <a:r>
              <a:rPr lang="en-US" sz="2422" dirty="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, </a:t>
            </a:r>
          </a:p>
          <a:p>
            <a:pPr algn="l">
              <a:lnSpc>
                <a:spcPts val="3392"/>
              </a:lnSpc>
              <a:spcBef>
                <a:spcPct val="0"/>
              </a:spcBef>
            </a:pPr>
            <a:r>
              <a:rPr lang="en-US" sz="2422" dirty="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earning before interest taxes depreciation amortization, </a:t>
            </a:r>
            <a:br>
              <a:rPr lang="en-US" sz="2422" dirty="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</a:br>
            <a:r>
              <a:rPr lang="en-US" sz="2422" dirty="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revenue, city, state, country, employees, weight</a:t>
            </a:r>
          </a:p>
          <a:p>
            <a:pPr algn="ctr">
              <a:lnSpc>
                <a:spcPts val="2576"/>
              </a:lnSpc>
              <a:spcBef>
                <a:spcPct val="0"/>
              </a:spcBef>
            </a:pPr>
            <a:endParaRPr lang="en-US" sz="2422" dirty="0">
              <a:solidFill>
                <a:srgbClr val="171717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F87854A-46EF-9295-04A9-5020DCBEF8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741" y="2269108"/>
            <a:ext cx="16278518" cy="567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509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EE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D88E49-5114-5796-474E-AD85F622D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580D015-4435-1020-3280-8149BC12A87A}"/>
              </a:ext>
            </a:extLst>
          </p:cNvPr>
          <p:cNvSpPr/>
          <p:nvPr/>
        </p:nvSpPr>
        <p:spPr>
          <a:xfrm>
            <a:off x="1023407" y="818979"/>
            <a:ext cx="594957" cy="327767"/>
          </a:xfrm>
          <a:custGeom>
            <a:avLst/>
            <a:gdLst/>
            <a:ahLst/>
            <a:cxnLst/>
            <a:rect l="l" t="t" r="r" b="b"/>
            <a:pathLst>
              <a:path w="594957" h="327767">
                <a:moveTo>
                  <a:pt x="0" y="0"/>
                </a:moveTo>
                <a:lnTo>
                  <a:pt x="594957" y="0"/>
                </a:lnTo>
                <a:lnTo>
                  <a:pt x="594957" y="327767"/>
                </a:lnTo>
                <a:lnTo>
                  <a:pt x="0" y="3277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1620F85-2F94-7343-C069-9483C3237649}"/>
              </a:ext>
            </a:extLst>
          </p:cNvPr>
          <p:cNvSpPr txBox="1"/>
          <p:nvPr/>
        </p:nvSpPr>
        <p:spPr>
          <a:xfrm>
            <a:off x="14327317" y="779091"/>
            <a:ext cx="1564422" cy="321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CONTENT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69680C6-DE53-9E09-5680-393F57EA6C7F}"/>
              </a:ext>
            </a:extLst>
          </p:cNvPr>
          <p:cNvSpPr txBox="1"/>
          <p:nvPr/>
        </p:nvSpPr>
        <p:spPr>
          <a:xfrm>
            <a:off x="16234639" y="779091"/>
            <a:ext cx="1564422" cy="321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OTHERS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D6E3674-E966-7515-95EA-C5C467213A32}"/>
              </a:ext>
            </a:extLst>
          </p:cNvPr>
          <p:cNvSpPr txBox="1"/>
          <p:nvPr/>
        </p:nvSpPr>
        <p:spPr>
          <a:xfrm>
            <a:off x="11126917" y="779091"/>
            <a:ext cx="922798" cy="321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HOME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C60E7F1-2FF2-C17F-461E-153B1F786EFA}"/>
              </a:ext>
            </a:extLst>
          </p:cNvPr>
          <p:cNvSpPr txBox="1"/>
          <p:nvPr/>
        </p:nvSpPr>
        <p:spPr>
          <a:xfrm>
            <a:off x="12612817" y="779091"/>
            <a:ext cx="922798" cy="321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ABOUT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F2CF268-92B8-CDAA-13A4-A569FAEBD4DA}"/>
              </a:ext>
            </a:extLst>
          </p:cNvPr>
          <p:cNvSpPr txBox="1"/>
          <p:nvPr/>
        </p:nvSpPr>
        <p:spPr>
          <a:xfrm>
            <a:off x="1028700" y="1291474"/>
            <a:ext cx="10407105" cy="1593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99"/>
              </a:lnSpc>
            </a:pPr>
            <a:r>
              <a:rPr lang="en-US" sz="9999" b="1" spc="-649">
                <a:solidFill>
                  <a:srgbClr val="171717"/>
                </a:solidFill>
                <a:latin typeface="Agrandir Bold"/>
                <a:ea typeface="Agrandir Bold"/>
                <a:cs typeface="Agrandir Bold"/>
                <a:sym typeface="Agrandir Bold"/>
              </a:rPr>
              <a:t>Datasets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0D9F92F-2583-4CAD-CE35-F0486D993501}"/>
              </a:ext>
            </a:extLst>
          </p:cNvPr>
          <p:cNvSpPr txBox="1"/>
          <p:nvPr/>
        </p:nvSpPr>
        <p:spPr>
          <a:xfrm>
            <a:off x="1023407" y="7944933"/>
            <a:ext cx="13491439" cy="16415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92"/>
              </a:lnSpc>
              <a:spcBef>
                <a:spcPct val="0"/>
              </a:spcBef>
            </a:pPr>
            <a:r>
              <a:rPr lang="en-US" sz="2422" dirty="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Sp500_stocks.csv</a:t>
            </a:r>
          </a:p>
          <a:p>
            <a:pPr algn="l">
              <a:lnSpc>
                <a:spcPts val="3392"/>
              </a:lnSpc>
              <a:spcBef>
                <a:spcPct val="0"/>
              </a:spcBef>
            </a:pPr>
            <a:endParaRPr lang="en-US" sz="2422" dirty="0">
              <a:solidFill>
                <a:srgbClr val="171717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algn="l">
              <a:lnSpc>
                <a:spcPts val="3392"/>
              </a:lnSpc>
              <a:spcBef>
                <a:spcPct val="0"/>
              </a:spcBef>
            </a:pPr>
            <a:r>
              <a:rPr lang="en-US" sz="2422" dirty="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FIELDS: date, symbol, adjusted close, close, high, low, open, volume</a:t>
            </a:r>
          </a:p>
          <a:p>
            <a:pPr algn="ctr">
              <a:lnSpc>
                <a:spcPts val="2576"/>
              </a:lnSpc>
              <a:spcBef>
                <a:spcPct val="0"/>
              </a:spcBef>
            </a:pPr>
            <a:endParaRPr lang="en-US" sz="2422" dirty="0">
              <a:solidFill>
                <a:srgbClr val="171717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B1EE6B4-9306-53CF-0AF6-F76CE1F416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2471626"/>
            <a:ext cx="13491439" cy="5416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3285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3407" y="818979"/>
            <a:ext cx="594957" cy="327767"/>
          </a:xfrm>
          <a:custGeom>
            <a:avLst/>
            <a:gdLst/>
            <a:ahLst/>
            <a:cxnLst/>
            <a:rect l="l" t="t" r="r" b="b"/>
            <a:pathLst>
              <a:path w="594957" h="327767">
                <a:moveTo>
                  <a:pt x="0" y="0"/>
                </a:moveTo>
                <a:lnTo>
                  <a:pt x="594957" y="0"/>
                </a:lnTo>
                <a:lnTo>
                  <a:pt x="594957" y="327767"/>
                </a:lnTo>
                <a:lnTo>
                  <a:pt x="0" y="3277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246636" y="4059694"/>
            <a:ext cx="17794729" cy="3850019"/>
          </a:xfrm>
          <a:custGeom>
            <a:avLst/>
            <a:gdLst/>
            <a:ahLst/>
            <a:cxnLst/>
            <a:rect l="l" t="t" r="r" b="b"/>
            <a:pathLst>
              <a:path w="17794729" h="3850019">
                <a:moveTo>
                  <a:pt x="0" y="0"/>
                </a:moveTo>
                <a:lnTo>
                  <a:pt x="17794728" y="0"/>
                </a:lnTo>
                <a:lnTo>
                  <a:pt x="17794728" y="3850019"/>
                </a:lnTo>
                <a:lnTo>
                  <a:pt x="0" y="38500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967" r="-2967" b="-5271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TextBox 4"/>
          <p:cNvSpPr txBox="1"/>
          <p:nvPr/>
        </p:nvSpPr>
        <p:spPr>
          <a:xfrm>
            <a:off x="14327317" y="779091"/>
            <a:ext cx="1564422" cy="321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CONTENT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234639" y="779091"/>
            <a:ext cx="1564422" cy="321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OTHERS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26917" y="779091"/>
            <a:ext cx="922798" cy="321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HOME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612817" y="779091"/>
            <a:ext cx="922798" cy="321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ABOUT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351881" y="2465845"/>
            <a:ext cx="11907419" cy="1593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9799"/>
              </a:lnSpc>
            </a:pPr>
            <a:r>
              <a:rPr lang="en-US" sz="9999" b="1" spc="-649">
                <a:solidFill>
                  <a:srgbClr val="171717"/>
                </a:solidFill>
                <a:latin typeface="Agrandir Bold"/>
                <a:ea typeface="Agrandir Bold"/>
                <a:cs typeface="Agrandir Bold"/>
                <a:sym typeface="Agrandir Bold"/>
              </a:rPr>
              <a:t>Foundry Pipeline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3407" y="818979"/>
            <a:ext cx="594957" cy="327767"/>
          </a:xfrm>
          <a:custGeom>
            <a:avLst/>
            <a:gdLst/>
            <a:ahLst/>
            <a:cxnLst/>
            <a:rect l="l" t="t" r="r" b="b"/>
            <a:pathLst>
              <a:path w="594957" h="327767">
                <a:moveTo>
                  <a:pt x="0" y="0"/>
                </a:moveTo>
                <a:lnTo>
                  <a:pt x="594957" y="0"/>
                </a:lnTo>
                <a:lnTo>
                  <a:pt x="594957" y="327767"/>
                </a:lnTo>
                <a:lnTo>
                  <a:pt x="0" y="3277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270667" y="1809751"/>
            <a:ext cx="3803549" cy="2485847"/>
          </a:xfrm>
          <a:custGeom>
            <a:avLst/>
            <a:gdLst/>
            <a:ahLst/>
            <a:cxnLst/>
            <a:rect l="l" t="t" r="r" b="b"/>
            <a:pathLst>
              <a:path w="3803549" h="2485847">
                <a:moveTo>
                  <a:pt x="0" y="0"/>
                </a:moveTo>
                <a:lnTo>
                  <a:pt x="3803549" y="0"/>
                </a:lnTo>
                <a:lnTo>
                  <a:pt x="3803549" y="2485847"/>
                </a:lnTo>
                <a:lnTo>
                  <a:pt x="0" y="24858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4327317" y="779091"/>
            <a:ext cx="1564422" cy="321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CONTENT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234639" y="779091"/>
            <a:ext cx="1564422" cy="321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OTHERS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26917" y="779091"/>
            <a:ext cx="922798" cy="321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HOME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612817" y="779091"/>
            <a:ext cx="922798" cy="321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ABOUT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2095893"/>
            <a:ext cx="8683987" cy="1593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99"/>
              </a:lnSpc>
            </a:pPr>
            <a:r>
              <a:rPr lang="en-US" sz="9999" b="1" spc="-649">
                <a:solidFill>
                  <a:srgbClr val="171717"/>
                </a:solidFill>
                <a:latin typeface="Agrandir Bold"/>
                <a:ea typeface="Agrandir Bold"/>
                <a:cs typeface="Agrandir Bold"/>
                <a:sym typeface="Agrandir Bold"/>
              </a:rPr>
              <a:t>Object Types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73962" y="3933256"/>
            <a:ext cx="11104099" cy="6716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09"/>
              </a:lnSpc>
            </a:pPr>
            <a:r>
              <a:rPr lang="en-US" sz="2721" b="1" dirty="0">
                <a:solidFill>
                  <a:srgbClr val="171717"/>
                </a:solidFill>
                <a:latin typeface="Agrandir Bold"/>
                <a:ea typeface="Agrandir Bold"/>
                <a:cs typeface="Agrandir Bold"/>
                <a:sym typeface="Agrandir Bold"/>
              </a:rPr>
              <a:t>IPO Object</a:t>
            </a:r>
          </a:p>
          <a:p>
            <a:pPr algn="just">
              <a:lnSpc>
                <a:spcPts val="3809"/>
              </a:lnSpc>
            </a:pPr>
            <a:r>
              <a:rPr lang="en-US" sz="2721" dirty="0" err="1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company_name</a:t>
            </a:r>
            <a:r>
              <a:rPr lang="en-US" sz="2721" dirty="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, ticker, sector, exchange, </a:t>
            </a:r>
            <a:r>
              <a:rPr lang="en-US" sz="2721" dirty="0" err="1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offer_price</a:t>
            </a:r>
            <a:r>
              <a:rPr lang="en-US" sz="2721" dirty="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, </a:t>
            </a:r>
            <a:r>
              <a:rPr lang="en-US" sz="2721" dirty="0" err="1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listing_date</a:t>
            </a:r>
            <a:r>
              <a:rPr lang="en-US" sz="2721" dirty="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,</a:t>
            </a:r>
          </a:p>
          <a:p>
            <a:pPr algn="just">
              <a:lnSpc>
                <a:spcPts val="3809"/>
              </a:lnSpc>
            </a:pPr>
            <a:r>
              <a:rPr lang="en-US" sz="2721" dirty="0" err="1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first_day_return</a:t>
            </a:r>
            <a:endParaRPr lang="en-US" sz="2721" dirty="0">
              <a:solidFill>
                <a:srgbClr val="171717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algn="just">
              <a:lnSpc>
                <a:spcPts val="3809"/>
              </a:lnSpc>
            </a:pPr>
            <a:endParaRPr lang="en-US" sz="2721" dirty="0">
              <a:solidFill>
                <a:srgbClr val="171717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algn="just">
              <a:lnSpc>
                <a:spcPts val="3809"/>
              </a:lnSpc>
            </a:pPr>
            <a:r>
              <a:rPr lang="en-US" sz="2721" b="1" dirty="0">
                <a:solidFill>
                  <a:srgbClr val="171717"/>
                </a:solidFill>
                <a:latin typeface="Agrandir Bold"/>
                <a:ea typeface="Agrandir Bold"/>
                <a:cs typeface="Agrandir Bold"/>
                <a:sym typeface="Agrandir Bold"/>
              </a:rPr>
              <a:t>ML Objective</a:t>
            </a:r>
          </a:p>
          <a:p>
            <a:pPr algn="just">
              <a:lnSpc>
                <a:spcPts val="3809"/>
              </a:lnSpc>
            </a:pPr>
            <a:r>
              <a:rPr lang="en-US" sz="2721" dirty="0" err="1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ipo_id</a:t>
            </a:r>
            <a:r>
              <a:rPr lang="en-US" sz="2721" dirty="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, </a:t>
            </a:r>
            <a:r>
              <a:rPr lang="en-US" sz="2721" dirty="0" err="1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predicted_outcome</a:t>
            </a:r>
            <a:r>
              <a:rPr lang="en-US" sz="2721" dirty="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,</a:t>
            </a:r>
          </a:p>
          <a:p>
            <a:pPr algn="just">
              <a:lnSpc>
                <a:spcPts val="3809"/>
              </a:lnSpc>
            </a:pPr>
            <a:r>
              <a:rPr lang="en-US" sz="2721" dirty="0" err="1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confidence_score</a:t>
            </a:r>
            <a:r>
              <a:rPr lang="en-US" sz="2721" dirty="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, </a:t>
            </a:r>
            <a:r>
              <a:rPr lang="en-US" sz="2721" dirty="0" err="1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model_version</a:t>
            </a:r>
            <a:r>
              <a:rPr lang="en-US" sz="2721" dirty="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,</a:t>
            </a:r>
          </a:p>
          <a:p>
            <a:pPr algn="just">
              <a:lnSpc>
                <a:spcPts val="3809"/>
              </a:lnSpc>
            </a:pPr>
            <a:r>
              <a:rPr lang="en-US" sz="2721" dirty="0" err="1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prediction_date</a:t>
            </a:r>
            <a:r>
              <a:rPr lang="en-US" sz="2721" dirty="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 </a:t>
            </a:r>
          </a:p>
          <a:p>
            <a:pPr algn="just">
              <a:lnSpc>
                <a:spcPts val="3809"/>
              </a:lnSpc>
            </a:pPr>
            <a:endParaRPr lang="en-US" sz="2721" dirty="0">
              <a:solidFill>
                <a:srgbClr val="171717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algn="just">
              <a:lnSpc>
                <a:spcPts val="3809"/>
              </a:lnSpc>
            </a:pPr>
            <a:r>
              <a:rPr lang="en-US" sz="2721" b="1" dirty="0" err="1">
                <a:solidFill>
                  <a:srgbClr val="171717"/>
                </a:solidFill>
                <a:latin typeface="Agrandir Bold"/>
                <a:ea typeface="Agrandir Bold"/>
                <a:cs typeface="Agrandir Bold"/>
                <a:sym typeface="Agrandir Bold"/>
              </a:rPr>
              <a:t>PipelineHealthLog</a:t>
            </a:r>
            <a:endParaRPr lang="en-US" sz="2721" b="1" dirty="0">
              <a:solidFill>
                <a:srgbClr val="171717"/>
              </a:solidFill>
              <a:latin typeface="Agrandir Bold"/>
              <a:ea typeface="Agrandir Bold"/>
              <a:cs typeface="Agrandir Bold"/>
              <a:sym typeface="Agrandir Bold"/>
            </a:endParaRPr>
          </a:p>
          <a:p>
            <a:pPr algn="just">
              <a:lnSpc>
                <a:spcPts val="3809"/>
              </a:lnSpc>
            </a:pPr>
            <a:r>
              <a:rPr lang="en-US" sz="2721" dirty="0" err="1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dataset_name</a:t>
            </a:r>
            <a:r>
              <a:rPr lang="en-US" sz="2721" dirty="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, </a:t>
            </a:r>
            <a:r>
              <a:rPr lang="en-US" sz="2721" dirty="0" err="1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check_type</a:t>
            </a:r>
            <a:r>
              <a:rPr lang="en-US" sz="2721" dirty="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,</a:t>
            </a:r>
          </a:p>
          <a:p>
            <a:pPr algn="just">
              <a:lnSpc>
                <a:spcPts val="3809"/>
              </a:lnSpc>
            </a:pPr>
            <a:r>
              <a:rPr lang="en-US" sz="2721" dirty="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status, </a:t>
            </a:r>
            <a:r>
              <a:rPr lang="en-US" sz="2721" dirty="0" err="1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null_rate</a:t>
            </a:r>
            <a:r>
              <a:rPr lang="en-US" sz="2721" dirty="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, </a:t>
            </a:r>
            <a:r>
              <a:rPr lang="en-US" sz="2721" dirty="0" err="1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alert_flag</a:t>
            </a:r>
            <a:endParaRPr lang="en-US" sz="2721" dirty="0">
              <a:solidFill>
                <a:srgbClr val="171717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algn="just">
              <a:lnSpc>
                <a:spcPts val="3809"/>
              </a:lnSpc>
            </a:pPr>
            <a:endParaRPr lang="en-US" sz="2721" dirty="0">
              <a:solidFill>
                <a:srgbClr val="171717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algn="just">
              <a:lnSpc>
                <a:spcPts val="3809"/>
              </a:lnSpc>
              <a:spcBef>
                <a:spcPct val="0"/>
              </a:spcBef>
            </a:pPr>
            <a:endParaRPr lang="en-US" sz="2721" dirty="0">
              <a:solidFill>
                <a:srgbClr val="171717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8524700" y="3711513"/>
            <a:ext cx="10021830" cy="6262684"/>
          </a:xfrm>
          <a:custGeom>
            <a:avLst/>
            <a:gdLst/>
            <a:ahLst/>
            <a:cxnLst/>
            <a:rect l="l" t="t" r="r" b="b"/>
            <a:pathLst>
              <a:path w="11733517" h="7527379">
                <a:moveTo>
                  <a:pt x="0" y="0"/>
                </a:moveTo>
                <a:lnTo>
                  <a:pt x="11733518" y="0"/>
                </a:lnTo>
                <a:lnTo>
                  <a:pt x="11733518" y="7527379"/>
                </a:lnTo>
                <a:lnTo>
                  <a:pt x="0" y="75273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3407" y="818979"/>
            <a:ext cx="594957" cy="327767"/>
          </a:xfrm>
          <a:custGeom>
            <a:avLst/>
            <a:gdLst/>
            <a:ahLst/>
            <a:cxnLst/>
            <a:rect l="l" t="t" r="r" b="b"/>
            <a:pathLst>
              <a:path w="594957" h="327767">
                <a:moveTo>
                  <a:pt x="0" y="0"/>
                </a:moveTo>
                <a:lnTo>
                  <a:pt x="594957" y="0"/>
                </a:lnTo>
                <a:lnTo>
                  <a:pt x="594957" y="327767"/>
                </a:lnTo>
                <a:lnTo>
                  <a:pt x="0" y="3277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4327317" y="779091"/>
            <a:ext cx="1564422" cy="321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CONTENT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234639" y="779091"/>
            <a:ext cx="1564422" cy="321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OTHERS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26917" y="779091"/>
            <a:ext cx="922798" cy="321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HOME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612817" y="779091"/>
            <a:ext cx="922798" cy="321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ABOUT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68736" y="7048500"/>
            <a:ext cx="14913754" cy="2832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99"/>
              </a:lnSpc>
            </a:pPr>
            <a:r>
              <a:rPr lang="en-US" sz="9999" b="1" spc="-649" dirty="0">
                <a:solidFill>
                  <a:srgbClr val="171717"/>
                </a:solidFill>
                <a:latin typeface="Agrandir Bold"/>
                <a:ea typeface="Agrandir Bold"/>
                <a:cs typeface="Agrandir Bold"/>
                <a:sym typeface="Agrandir Bold"/>
              </a:rPr>
              <a:t>Workshop Dashboards (Ontology)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5800" y="2324100"/>
            <a:ext cx="10658181" cy="44114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 b="1" dirty="0">
                <a:solidFill>
                  <a:srgbClr val="171717"/>
                </a:solidFill>
                <a:latin typeface="Agrandir Bold"/>
                <a:ea typeface="Agrandir Bold"/>
                <a:cs typeface="Agrandir Bold"/>
                <a:sym typeface="Agrandir Bold"/>
              </a:rPr>
              <a:t>01 - Market Overview &amp; Historical Analysis</a:t>
            </a:r>
          </a:p>
          <a:p>
            <a:pPr algn="l">
              <a:lnSpc>
                <a:spcPts val="2400"/>
              </a:lnSpc>
            </a:pPr>
            <a:r>
              <a:rPr lang="en-US" sz="2000" dirty="0">
                <a:solidFill>
                  <a:srgbClr val="555555"/>
                </a:solidFill>
                <a:latin typeface="Agrandir"/>
                <a:ea typeface="Agrandir"/>
                <a:cs typeface="Agrandir"/>
                <a:sym typeface="Agrandir"/>
              </a:rPr>
              <a:t>IPO trends by year, sector, and exchange for analysts</a:t>
            </a:r>
          </a:p>
          <a:p>
            <a:pPr algn="l">
              <a:lnSpc>
                <a:spcPts val="2400"/>
              </a:lnSpc>
            </a:pPr>
            <a:endParaRPr lang="en-US" sz="2000" dirty="0">
              <a:solidFill>
                <a:srgbClr val="555555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algn="l">
              <a:lnSpc>
                <a:spcPts val="1600"/>
              </a:lnSpc>
            </a:pPr>
            <a:endParaRPr lang="en-US" sz="1000" dirty="0"/>
          </a:p>
          <a:p>
            <a:pPr algn="l">
              <a:lnSpc>
                <a:spcPts val="3200"/>
              </a:lnSpc>
            </a:pPr>
            <a:r>
              <a:rPr lang="en-US" sz="3200" b="1" dirty="0">
                <a:solidFill>
                  <a:srgbClr val="171717"/>
                </a:solidFill>
                <a:latin typeface="Agrandir Bold"/>
                <a:ea typeface="Agrandir Bold"/>
                <a:cs typeface="Agrandir Bold"/>
                <a:sym typeface="Agrandir Bold"/>
              </a:rPr>
              <a:t>02 - ML Prediction Center</a:t>
            </a:r>
          </a:p>
          <a:p>
            <a:pPr algn="l">
              <a:lnSpc>
                <a:spcPts val="2400"/>
              </a:lnSpc>
            </a:pPr>
            <a:r>
              <a:rPr lang="en-US" sz="2000" dirty="0">
                <a:solidFill>
                  <a:srgbClr val="555555"/>
                </a:solidFill>
                <a:latin typeface="Agrandir"/>
                <a:ea typeface="Agrandir"/>
                <a:cs typeface="Agrandir"/>
                <a:sym typeface="Agrandir"/>
              </a:rPr>
              <a:t>Model predictions, confidence scores, and feature importance for data scientists</a:t>
            </a:r>
          </a:p>
          <a:p>
            <a:pPr algn="l">
              <a:lnSpc>
                <a:spcPts val="2400"/>
              </a:lnSpc>
            </a:pPr>
            <a:endParaRPr lang="en-US" sz="2000" dirty="0">
              <a:solidFill>
                <a:srgbClr val="555555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algn="l">
              <a:lnSpc>
                <a:spcPts val="1600"/>
              </a:lnSpc>
            </a:pPr>
            <a:endParaRPr lang="en-US" sz="1000" dirty="0"/>
          </a:p>
          <a:p>
            <a:pPr algn="l">
              <a:lnSpc>
                <a:spcPts val="3200"/>
              </a:lnSpc>
            </a:pPr>
            <a:r>
              <a:rPr lang="en-US" sz="3200" b="1" dirty="0">
                <a:solidFill>
                  <a:srgbClr val="171717"/>
                </a:solidFill>
                <a:latin typeface="Agrandir Bold"/>
                <a:ea typeface="Agrandir Bold"/>
                <a:cs typeface="Agrandir Bold"/>
                <a:sym typeface="Agrandir Bold"/>
              </a:rPr>
              <a:t>03 - IPO Deep Dive Explorer</a:t>
            </a:r>
          </a:p>
          <a:p>
            <a:pPr algn="l">
              <a:lnSpc>
                <a:spcPts val="2400"/>
              </a:lnSpc>
            </a:pPr>
            <a:r>
              <a:rPr lang="en-US" sz="2000" dirty="0">
                <a:solidFill>
                  <a:srgbClr val="555555"/>
                </a:solidFill>
                <a:latin typeface="Agrandir"/>
                <a:ea typeface="Agrandir"/>
                <a:cs typeface="Agrandir"/>
                <a:sym typeface="Agrandir"/>
              </a:rPr>
              <a:t>Single-IPO detail view with PDF export for analysts</a:t>
            </a:r>
          </a:p>
          <a:p>
            <a:pPr algn="l">
              <a:lnSpc>
                <a:spcPts val="2400"/>
              </a:lnSpc>
            </a:pPr>
            <a:endParaRPr lang="en-US" sz="2000" dirty="0">
              <a:solidFill>
                <a:srgbClr val="555555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algn="l">
              <a:lnSpc>
                <a:spcPts val="1600"/>
              </a:lnSpc>
            </a:pPr>
            <a:endParaRPr lang="en-US" sz="1000" dirty="0"/>
          </a:p>
          <a:p>
            <a:pPr algn="l">
              <a:lnSpc>
                <a:spcPts val="3200"/>
              </a:lnSpc>
            </a:pPr>
            <a:r>
              <a:rPr lang="en-US" sz="3200" b="1" dirty="0">
                <a:solidFill>
                  <a:srgbClr val="171717"/>
                </a:solidFill>
                <a:latin typeface="Agrandir Bold"/>
                <a:ea typeface="Agrandir Bold"/>
                <a:cs typeface="Agrandir Bold"/>
                <a:sym typeface="Agrandir Bold"/>
              </a:rPr>
              <a:t>04 - Pipeline Health Monitor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000" dirty="0">
                <a:solidFill>
                  <a:srgbClr val="555555"/>
                </a:solidFill>
                <a:latin typeface="Agrandir"/>
                <a:ea typeface="Agrandir"/>
                <a:cs typeface="Agrandir"/>
                <a:sym typeface="Agrandir"/>
              </a:rPr>
              <a:t>Health check alerts, null rates, and run history for data engineers</a:t>
            </a:r>
          </a:p>
        </p:txBody>
      </p:sp>
      <p:sp>
        <p:nvSpPr>
          <p:cNvPr id="9" name="Freeform 9"/>
          <p:cNvSpPr/>
          <p:nvPr/>
        </p:nvSpPr>
        <p:spPr>
          <a:xfrm>
            <a:off x="10566953" y="1551573"/>
            <a:ext cx="6425647" cy="4049128"/>
          </a:xfrm>
          <a:custGeom>
            <a:avLst/>
            <a:gdLst/>
            <a:ahLst/>
            <a:cxnLst/>
            <a:rect l="l" t="t" r="r" b="b"/>
            <a:pathLst>
              <a:path w="8391908" h="6112139">
                <a:moveTo>
                  <a:pt x="0" y="0"/>
                </a:moveTo>
                <a:lnTo>
                  <a:pt x="8391908" y="0"/>
                </a:lnTo>
                <a:lnTo>
                  <a:pt x="8391908" y="6112140"/>
                </a:lnTo>
                <a:lnTo>
                  <a:pt x="0" y="61121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3407" y="818979"/>
            <a:ext cx="594957" cy="327767"/>
          </a:xfrm>
          <a:custGeom>
            <a:avLst/>
            <a:gdLst/>
            <a:ahLst/>
            <a:cxnLst/>
            <a:rect l="l" t="t" r="r" b="b"/>
            <a:pathLst>
              <a:path w="594957" h="327767">
                <a:moveTo>
                  <a:pt x="0" y="0"/>
                </a:moveTo>
                <a:lnTo>
                  <a:pt x="594957" y="0"/>
                </a:lnTo>
                <a:lnTo>
                  <a:pt x="594957" y="327767"/>
                </a:lnTo>
                <a:lnTo>
                  <a:pt x="0" y="3277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4327317" y="779091"/>
            <a:ext cx="1564422" cy="321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CONTENT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234639" y="779091"/>
            <a:ext cx="1564422" cy="321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OTHERS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26917" y="779091"/>
            <a:ext cx="922798" cy="321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HOME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612817" y="779091"/>
            <a:ext cx="922798" cy="321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ABOUT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5800" y="6890825"/>
            <a:ext cx="14913754" cy="2832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99"/>
              </a:lnSpc>
            </a:pPr>
            <a:r>
              <a:rPr lang="en-US" sz="9999" b="1" spc="-649" dirty="0">
                <a:solidFill>
                  <a:srgbClr val="171717"/>
                </a:solidFill>
                <a:latin typeface="Agrandir Bold"/>
                <a:ea typeface="Agrandir Bold"/>
                <a:cs typeface="Agrandir Bold"/>
                <a:sym typeface="Agrandir Bold"/>
              </a:rPr>
              <a:t>Scheduling &amp; Health Checks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96686" y="2436870"/>
            <a:ext cx="11734800" cy="31585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600" b="1" dirty="0">
                <a:solidFill>
                  <a:srgbClr val="171717"/>
                </a:solidFill>
                <a:latin typeface="Agrandir Bold"/>
                <a:ea typeface="Agrandir Bold"/>
                <a:cs typeface="Agrandir Bold"/>
                <a:sym typeface="Agrandir Bold"/>
              </a:rPr>
              <a:t>Pipeline Schedule</a:t>
            </a:r>
          </a:p>
          <a:p>
            <a:pPr algn="l">
              <a:lnSpc>
                <a:spcPts val="2400"/>
              </a:lnSpc>
            </a:pPr>
            <a:r>
              <a:rPr lang="en-US" sz="2400" dirty="0">
                <a:solidFill>
                  <a:srgbClr val="555555"/>
                </a:solidFill>
                <a:latin typeface="Agrandir"/>
                <a:ea typeface="Agrandir"/>
                <a:cs typeface="Agrandir"/>
                <a:sym typeface="Agrandir"/>
              </a:rPr>
              <a:t>Weekly refresh every Monday (full pipeline rebuild)</a:t>
            </a:r>
          </a:p>
          <a:p>
            <a:pPr algn="l">
              <a:lnSpc>
                <a:spcPts val="2400"/>
              </a:lnSpc>
            </a:pPr>
            <a:r>
              <a:rPr lang="en-US" sz="2400" dirty="0">
                <a:solidFill>
                  <a:srgbClr val="555555"/>
                </a:solidFill>
                <a:latin typeface="Agrandir"/>
                <a:ea typeface="Agrandir"/>
                <a:cs typeface="Agrandir"/>
                <a:sym typeface="Agrandir"/>
              </a:rPr>
              <a:t>Monthly ML model retraining</a:t>
            </a:r>
          </a:p>
          <a:p>
            <a:pPr algn="l">
              <a:lnSpc>
                <a:spcPts val="2400"/>
              </a:lnSpc>
            </a:pPr>
            <a:endParaRPr lang="en-US" sz="2400" dirty="0">
              <a:solidFill>
                <a:srgbClr val="555555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algn="l">
              <a:lnSpc>
                <a:spcPts val="1600"/>
              </a:lnSpc>
            </a:pPr>
            <a:endParaRPr lang="en-US" sz="1050" dirty="0"/>
          </a:p>
          <a:p>
            <a:pPr algn="l">
              <a:lnSpc>
                <a:spcPts val="3200"/>
              </a:lnSpc>
            </a:pPr>
            <a:r>
              <a:rPr lang="en-US" sz="3600" b="1" dirty="0">
                <a:solidFill>
                  <a:srgbClr val="171717"/>
                </a:solidFill>
                <a:latin typeface="Agrandir Bold"/>
                <a:ea typeface="Agrandir Bold"/>
                <a:cs typeface="Agrandir Bold"/>
                <a:sym typeface="Agrandir Bold"/>
              </a:rPr>
              <a:t>Health Checks</a:t>
            </a:r>
          </a:p>
          <a:p>
            <a:pPr algn="l">
              <a:lnSpc>
                <a:spcPts val="2400"/>
              </a:lnSpc>
            </a:pPr>
            <a:r>
              <a:rPr lang="en-US" sz="2400" dirty="0">
                <a:solidFill>
                  <a:srgbClr val="555555"/>
                </a:solidFill>
                <a:latin typeface="Agrandir"/>
                <a:ea typeface="Agrandir"/>
                <a:cs typeface="Agrandir"/>
                <a:sym typeface="Agrandir"/>
              </a:rPr>
              <a:t>Null check: flag datasets with null rate above threshold</a:t>
            </a:r>
          </a:p>
          <a:p>
            <a:pPr algn="l">
              <a:lnSpc>
                <a:spcPts val="2400"/>
              </a:lnSpc>
            </a:pPr>
            <a:r>
              <a:rPr lang="en-US" sz="2400" dirty="0">
                <a:solidFill>
                  <a:srgbClr val="555555"/>
                </a:solidFill>
                <a:latin typeface="Agrandir"/>
                <a:ea typeface="Agrandir"/>
                <a:cs typeface="Agrandir"/>
                <a:sym typeface="Agrandir"/>
              </a:rPr>
              <a:t>Row count threshold: alert if output drops unexpectedly</a:t>
            </a:r>
          </a:p>
          <a:p>
            <a:pPr algn="l">
              <a:lnSpc>
                <a:spcPts val="2400"/>
              </a:lnSpc>
            </a:pPr>
            <a:r>
              <a:rPr lang="en-US" sz="2400" dirty="0">
                <a:solidFill>
                  <a:srgbClr val="555555"/>
                </a:solidFill>
                <a:latin typeface="Agrandir"/>
                <a:ea typeface="Agrandir"/>
                <a:cs typeface="Agrandir"/>
                <a:sym typeface="Agrandir"/>
              </a:rPr>
              <a:t>Date freshness: verify latest data is within expected range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400" dirty="0">
                <a:solidFill>
                  <a:srgbClr val="555555"/>
                </a:solidFill>
                <a:latin typeface="Agrandir"/>
                <a:ea typeface="Agrandir"/>
                <a:cs typeface="Agrandir"/>
                <a:sym typeface="Agrandir"/>
              </a:rPr>
              <a:t>Model drift detection: monitor prediction distribution shifts</a:t>
            </a:r>
          </a:p>
        </p:txBody>
      </p:sp>
      <p:sp>
        <p:nvSpPr>
          <p:cNvPr id="9" name="Freeform 9"/>
          <p:cNvSpPr/>
          <p:nvPr/>
        </p:nvSpPr>
        <p:spPr>
          <a:xfrm>
            <a:off x="10566953" y="1551573"/>
            <a:ext cx="6425647" cy="4049128"/>
          </a:xfrm>
          <a:custGeom>
            <a:avLst/>
            <a:gdLst/>
            <a:ahLst/>
            <a:cxnLst/>
            <a:rect l="l" t="t" r="r" b="b"/>
            <a:pathLst>
              <a:path w="8391908" h="6112139">
                <a:moveTo>
                  <a:pt x="0" y="0"/>
                </a:moveTo>
                <a:lnTo>
                  <a:pt x="8391908" y="0"/>
                </a:lnTo>
                <a:lnTo>
                  <a:pt x="8391908" y="6112140"/>
                </a:lnTo>
                <a:lnTo>
                  <a:pt x="0" y="61121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3407" y="818979"/>
            <a:ext cx="594957" cy="327767"/>
          </a:xfrm>
          <a:custGeom>
            <a:avLst/>
            <a:gdLst/>
            <a:ahLst/>
            <a:cxnLst/>
            <a:rect l="l" t="t" r="r" b="b"/>
            <a:pathLst>
              <a:path w="594957" h="327767">
                <a:moveTo>
                  <a:pt x="0" y="0"/>
                </a:moveTo>
                <a:lnTo>
                  <a:pt x="594957" y="0"/>
                </a:lnTo>
                <a:lnTo>
                  <a:pt x="594957" y="327767"/>
                </a:lnTo>
                <a:lnTo>
                  <a:pt x="0" y="3277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4327317" y="779091"/>
            <a:ext cx="1564422" cy="321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CONTENT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234639" y="779091"/>
            <a:ext cx="1564422" cy="321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OTHERS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26917" y="779091"/>
            <a:ext cx="922798" cy="321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HOME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612817" y="779091"/>
            <a:ext cx="922798" cy="321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2"/>
              </a:lnSpc>
              <a:spcBef>
                <a:spcPct val="0"/>
              </a:spcBef>
            </a:pPr>
            <a:r>
              <a:rPr lang="en-US" sz="1580">
                <a:solidFill>
                  <a:srgbClr val="171717"/>
                </a:solidFill>
                <a:latin typeface="Agrandir"/>
                <a:ea typeface="Agrandir"/>
                <a:cs typeface="Agrandir"/>
                <a:sym typeface="Agrandir"/>
              </a:rPr>
              <a:t>ABOUT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58862" y="4439502"/>
            <a:ext cx="11943342" cy="254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687"/>
              </a:lnSpc>
            </a:pPr>
            <a:r>
              <a:rPr lang="en-US" sz="16007" b="1" spc="-1040">
                <a:solidFill>
                  <a:srgbClr val="171717"/>
                </a:solidFill>
                <a:latin typeface="Agrandir Bold"/>
                <a:ea typeface="Agrandir Bold"/>
                <a:cs typeface="Agrandir Bold"/>
                <a:sym typeface="Agrandir Bold"/>
              </a:rPr>
              <a:t>Thank You</a:t>
            </a:r>
          </a:p>
        </p:txBody>
      </p:sp>
      <p:sp>
        <p:nvSpPr>
          <p:cNvPr id="8" name="Freeform 8"/>
          <p:cNvSpPr/>
          <p:nvPr/>
        </p:nvSpPr>
        <p:spPr>
          <a:xfrm>
            <a:off x="9607332" y="2481109"/>
            <a:ext cx="7856564" cy="6564305"/>
          </a:xfrm>
          <a:custGeom>
            <a:avLst/>
            <a:gdLst/>
            <a:ahLst/>
            <a:cxnLst/>
            <a:rect l="l" t="t" r="r" b="b"/>
            <a:pathLst>
              <a:path w="7856564" h="6564305">
                <a:moveTo>
                  <a:pt x="0" y="0"/>
                </a:moveTo>
                <a:lnTo>
                  <a:pt x="7856565" y="0"/>
                </a:lnTo>
                <a:lnTo>
                  <a:pt x="7856565" y="6564305"/>
                </a:lnTo>
                <a:lnTo>
                  <a:pt x="0" y="65643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666</Words>
  <Application>Microsoft Office PowerPoint</Application>
  <PresentationFormat>Custom</PresentationFormat>
  <Paragraphs>143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Agrandir Bold</vt:lpstr>
      <vt:lpstr>Agrandir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Beige and Black Colorful Illustration Stock Market Presentation</dc:title>
  <cp:lastModifiedBy>PETER I. EL BIKAI</cp:lastModifiedBy>
  <cp:revision>4</cp:revision>
  <dcterms:created xsi:type="dcterms:W3CDTF">2006-08-16T00:00:00Z</dcterms:created>
  <dcterms:modified xsi:type="dcterms:W3CDTF">2026-03-19T11:33:40Z</dcterms:modified>
  <dc:identifier>DAHDxvv5H1Q</dc:identifier>
</cp:coreProperties>
</file>