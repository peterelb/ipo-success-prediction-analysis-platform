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74" r:id="rId9"/>
    <p:sldId id="275" r:id="rId10"/>
    <p:sldId id="267" r:id="rId11"/>
    <p:sldId id="276" r:id="rId12"/>
    <p:sldId id="277" r:id="rId13"/>
    <p:sldId id="278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3457" autoAdjust="0"/>
  </p:normalViewPr>
  <p:slideViewPr>
    <p:cSldViewPr snapToGrid="0" snapToObjects="1">
      <p:cViewPr>
        <p:scale>
          <a:sx n="80" d="100"/>
          <a:sy n="80" d="100"/>
        </p:scale>
        <p:origin x="8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06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Connecting build because I wanted all datasets in between to build.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 weekly schedule because the datasets are static, so updating weekly would waste resources in this case. </a:t>
            </a:r>
          </a:p>
          <a:p>
            <a:r>
              <a:rPr lang="en-US" dirty="0"/>
              <a:t>Updates when both datasets updates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Health Checks: </a:t>
            </a:r>
            <a:br>
              <a:rPr lang="en-US" dirty="0"/>
            </a:br>
            <a:r>
              <a:rPr lang="en-US" dirty="0"/>
              <a:t>- On schedule: </a:t>
            </a:r>
            <a:br>
              <a:rPr lang="en-US" dirty="0"/>
            </a:br>
            <a:r>
              <a:rPr lang="en-US" dirty="0"/>
              <a:t>	-Schedule duration: Total time a schedule takes to complete</a:t>
            </a:r>
          </a:p>
          <a:p>
            <a:r>
              <a:rPr lang="en-US" dirty="0"/>
              <a:t>	- Schedule status: status of most recent run(no fails) 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On input datasets (not included in build of schedule): </a:t>
            </a:r>
            <a:br>
              <a:rPr lang="en-US" dirty="0"/>
            </a:br>
            <a:r>
              <a:rPr lang="en-US" dirty="0"/>
              <a:t> 	- Time since last updated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Schema check 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Row count 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Null percentage on Symbol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Connecting build because I wanted all datasets in between to build.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 weekly schedule because the datasets are static, so updating weekly would waste resources in this case. </a:t>
            </a:r>
            <a:br>
              <a:rPr lang="en-US" dirty="0"/>
            </a:br>
            <a:r>
              <a:rPr lang="en-US" dirty="0"/>
              <a:t>Updates when all three datasets update</a:t>
            </a:r>
            <a:br>
              <a:rPr lang="en-US" dirty="0"/>
            </a:br>
            <a:r>
              <a:rPr lang="en-US" dirty="0"/>
              <a:t>Health Checks: </a:t>
            </a:r>
            <a:br>
              <a:rPr lang="en-US" dirty="0"/>
            </a:br>
            <a:r>
              <a:rPr lang="en-US" dirty="0"/>
              <a:t>- On schedule: </a:t>
            </a:r>
            <a:br>
              <a:rPr lang="en-US" dirty="0"/>
            </a:br>
            <a:r>
              <a:rPr lang="en-US" dirty="0"/>
              <a:t>	-Schedule duration: Total time a schedule takes to complete</a:t>
            </a:r>
          </a:p>
          <a:p>
            <a:r>
              <a:rPr lang="en-US" dirty="0"/>
              <a:t>	- Schedule status: status of most recent run(no fails) 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On input datasets (not included in build of schedule): </a:t>
            </a:r>
            <a:br>
              <a:rPr lang="en-US" dirty="0"/>
            </a:br>
            <a:r>
              <a:rPr lang="en-US" dirty="0"/>
              <a:t> 	- Time since last updated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Schema check 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Row count 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Null percentage on Symbol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Connecting build because I wanted all datasets in between to build.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 weekly schedule because the datasets are static, so updating weekly would waste resources in this case. </a:t>
            </a:r>
            <a:br>
              <a:rPr lang="en-US" dirty="0"/>
            </a:br>
            <a:r>
              <a:rPr lang="en-US" dirty="0"/>
              <a:t>Updates when one of the two datasets update because if future </a:t>
            </a:r>
            <a:r>
              <a:rPr lang="en-US" dirty="0" err="1"/>
              <a:t>ipo</a:t>
            </a:r>
            <a:r>
              <a:rPr lang="en-US" dirty="0"/>
              <a:t> got added needs to update the object for dashboard</a:t>
            </a:r>
          </a:p>
          <a:p>
            <a:br>
              <a:rPr lang="en-US" dirty="0"/>
            </a:br>
            <a:r>
              <a:rPr lang="en-US" dirty="0"/>
              <a:t>Health Checks: </a:t>
            </a:r>
            <a:br>
              <a:rPr lang="en-US" dirty="0"/>
            </a:br>
            <a:r>
              <a:rPr lang="en-US" dirty="0"/>
              <a:t>- On schedule: </a:t>
            </a:r>
            <a:br>
              <a:rPr lang="en-US" dirty="0"/>
            </a:br>
            <a:r>
              <a:rPr lang="en-US" dirty="0"/>
              <a:t>	-Schedule duration: Total time a schedule takes to complete</a:t>
            </a:r>
          </a:p>
          <a:p>
            <a:r>
              <a:rPr lang="en-US" dirty="0"/>
              <a:t>	- Schedule status: status of most recent run(no fails) 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On input datasets (not included in build of schedule): </a:t>
            </a:r>
            <a:br>
              <a:rPr lang="en-US" dirty="0"/>
            </a:br>
            <a:r>
              <a:rPr lang="en-US" dirty="0"/>
              <a:t> 	- Time since last updated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Schema check 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Row count 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Null percentage on Symbol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C8B9-AF62-70FE-DA04-CE835785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2E8D0-72C8-19C4-A435-2A357A3C0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B2A63-239D-405C-1201-73C5BD9ED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4B29C-A132-F661-D13F-9F2C213CA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52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B153-6F6D-2013-D7F4-F6C9C172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48082-F1C0-576B-CD1F-E416DEE2C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528DC-753A-2D5A-5B0E-ACAA41745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09C8C-17C6-8FB4-923C-B31010531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70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B3A9-F4E9-82E0-74B4-6AE76B50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69820-B65A-254B-A675-F6FD57A83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14E7F-73AB-4027-5F4A-0C576CFBE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97ADA-A3F6-D26B-84C5-4F641DC07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88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0236-7526-E399-E768-5DE79CD2D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473AE-D0BE-501F-E5E4-2E06A2DED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A3FF8-B916-38C0-EE3B-0E4A26FFC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B1476-FFF6-BDB8-37D6-21C5177C6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90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3CD03-EA81-7FD9-512C-28BBA9A2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62D41-41E0-DF4C-625E-69A53AB65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8E275-1CD3-0A1C-158F-F3F504130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F9F01-A171-1612-119C-5DA1A09F71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74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 Success Prediction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Analysis Platform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Final Project  |  Palantir Foundry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inmind.academy  |  March 26,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3206100-067D-E8C6-79F4-6DA8A1860873}"/>
              </a:ext>
            </a:extLst>
          </p:cNvPr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71AA13A-7154-6AE0-5979-D2C292EF8E18}"/>
              </a:ext>
            </a:extLst>
          </p:cNvPr>
          <p:cNvSpPr/>
          <p:nvPr/>
        </p:nvSpPr>
        <p:spPr>
          <a:xfrm>
            <a:off x="64008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investments are high-risk decisions where retail and institutional investors lack reliable, data-driven tools. Current analysis relies on manual due diligence, subjective judgment, and fragmented data sources that don't scale across hundreds of annual IPOs.</a:t>
            </a:r>
            <a:endParaRPr lang="en-US" sz="12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3C8040A7-A4BC-9B8D-E858-9BFD6D096085}"/>
              </a:ext>
            </a:extLst>
          </p:cNvPr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6230BCA-D149-5E0F-4139-6AF5EBCEBB38}"/>
              </a:ext>
            </a:extLst>
          </p:cNvPr>
          <p:cNvSpPr/>
          <p:nvPr/>
        </p:nvSpPr>
        <p:spPr>
          <a:xfrm>
            <a:off x="484632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IPO Success Prediction Platform on Palantir Foundry that ingests historical IPO and market data, trains binary classifiers to predict post-listing performance, and delivers interactive dashboards for analysts, data scientists, and engineers.</a:t>
            </a:r>
            <a:endParaRPr lang="en-US" sz="12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2072745D-63BA-BB7E-1A56-BD916ACC8053}"/>
              </a:ext>
            </a:extLst>
          </p:cNvPr>
          <p:cNvSpPr/>
          <p:nvPr/>
        </p:nvSpPr>
        <p:spPr>
          <a:xfrm>
            <a:off x="4434840" y="1051560"/>
            <a:ext cx="0" cy="1828800"/>
          </a:xfrm>
          <a:prstGeom prst="line">
            <a:avLst/>
          </a:prstGeom>
          <a:noFill/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6F3B24F0-AEA0-51DD-A32C-095F521B310E}"/>
              </a:ext>
            </a:extLst>
          </p:cNvPr>
          <p:cNvSpPr/>
          <p:nvPr/>
        </p:nvSpPr>
        <p:spPr>
          <a:xfrm>
            <a:off x="640080" y="3200400"/>
            <a:ext cx="786384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6B0059C3-BDAF-6253-4C00-FD5DFADF0FF8}"/>
              </a:ext>
            </a:extLst>
          </p:cNvPr>
          <p:cNvSpPr/>
          <p:nvPr/>
        </p:nvSpPr>
        <p:spPr>
          <a:xfrm>
            <a:off x="64008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Datasets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DC779504-F596-AC25-3046-A128BB11927D}"/>
              </a:ext>
            </a:extLst>
          </p:cNvPr>
          <p:cNvSpPr/>
          <p:nvPr/>
        </p:nvSpPr>
        <p:spPr>
          <a:xfrm>
            <a:off x="640080" y="3730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0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7AE87F45-561B-14C1-9295-46E3EF8F8F21}"/>
              </a:ext>
            </a:extLst>
          </p:cNvPr>
          <p:cNvSpPr/>
          <p:nvPr/>
        </p:nvSpPr>
        <p:spPr>
          <a:xfrm>
            <a:off x="224028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Pipelines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9512CF63-C583-68AF-557B-05BAE04B0EA5}"/>
              </a:ext>
            </a:extLst>
          </p:cNvPr>
          <p:cNvSpPr/>
          <p:nvPr/>
        </p:nvSpPr>
        <p:spPr>
          <a:xfrm>
            <a:off x="2240280" y="3730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CAED3F5B-E9C5-5AC5-3E62-E69B60D0B253}"/>
              </a:ext>
            </a:extLst>
          </p:cNvPr>
          <p:cNvSpPr/>
          <p:nvPr/>
        </p:nvSpPr>
        <p:spPr>
          <a:xfrm>
            <a:off x="384048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ML Models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2A3FB180-6F27-34D8-F8C5-74DBA8F844A1}"/>
              </a:ext>
            </a:extLst>
          </p:cNvPr>
          <p:cNvSpPr/>
          <p:nvPr/>
        </p:nvSpPr>
        <p:spPr>
          <a:xfrm>
            <a:off x="3840480" y="3730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&amp; Post IPO</a:t>
            </a:r>
            <a:endParaRPr lang="en-US" sz="10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12CDD4E-488E-A12E-9072-B3E2007F3D1C}"/>
              </a:ext>
            </a:extLst>
          </p:cNvPr>
          <p:cNvSpPr/>
          <p:nvPr/>
        </p:nvSpPr>
        <p:spPr>
          <a:xfrm>
            <a:off x="544068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Ontology Objects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FC7B9768-4EA0-1E2F-FFFB-CF68ED8FC4FE}"/>
              </a:ext>
            </a:extLst>
          </p:cNvPr>
          <p:cNvSpPr/>
          <p:nvPr/>
        </p:nvSpPr>
        <p:spPr>
          <a:xfrm>
            <a:off x="5440680" y="3730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0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C873FA8D-B84C-B9D8-CD4F-011EB0646DE3}"/>
              </a:ext>
            </a:extLst>
          </p:cNvPr>
          <p:cNvSpPr/>
          <p:nvPr/>
        </p:nvSpPr>
        <p:spPr>
          <a:xfrm>
            <a:off x="704088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Dashboards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06A38CC4-EDF6-7513-E48B-95215DA67D87}"/>
              </a:ext>
            </a:extLst>
          </p:cNvPr>
          <p:cNvSpPr/>
          <p:nvPr/>
        </p:nvSpPr>
        <p:spPr>
          <a:xfrm>
            <a:off x="7040880" y="3730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216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 Performance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582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US_IPO_Data_1986_2021_enriched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ipo_stock_2010_2018_v2_enriched</a:t>
            </a:r>
          </a:p>
        </p:txBody>
      </p:sp>
      <p:sp>
        <p:nvSpPr>
          <p:cNvPr id="10" name="Text 8"/>
          <p:cNvSpPr/>
          <p:nvPr/>
        </p:nvSpPr>
        <p:spPr>
          <a:xfrm>
            <a:off x="4114800" y="1216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IPO fundamentals: offer price, market cap, revenue, profit, sector, CEO details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IPO Explorer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54864" cy="8046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130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S&amp;P 500 Stock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" y="2450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sp500_index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sp500_companies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Sp500_stocks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2130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price of the S&amp;P500, OHLCV price data, company profile data. </a:t>
            </a:r>
          </a:p>
        </p:txBody>
      </p:sp>
      <p:sp>
        <p:nvSpPr>
          <p:cNvPr id="17" name="Text 15"/>
          <p:cNvSpPr/>
          <p:nvPr/>
        </p:nvSpPr>
        <p:spPr>
          <a:xfrm>
            <a:off x="731520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54864" cy="8046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044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Dataset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355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IPO_full_ml_worthy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30449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 price data for IPO, rich data for 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Center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54864" cy="80467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959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Upcoming IPOs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" y="4270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future_ipo_raw</a:t>
            </a:r>
            <a:endParaRPr lang="en-US" sz="9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14800" y="39593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profiles: sector, industry, employees, market cap, revenue growth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Center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234440" cy="1005840"/>
          </a:xfrm>
          <a:prstGeom prst="rect">
            <a:avLst/>
          </a:prstGeom>
          <a:solidFill>
            <a:srgbClr val="00B4D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into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folder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54480" y="1691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83080" y="1371600"/>
            <a:ext cx="1234440" cy="1005840"/>
          </a:xfrm>
          <a:prstGeom prst="rect">
            <a:avLst/>
          </a:prstGeom>
          <a:solidFill>
            <a:srgbClr val="0E74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828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0" y="1691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1234440" cy="100584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1828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joins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1691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1371600"/>
            <a:ext cx="1234440" cy="1005840"/>
          </a:xfrm>
          <a:prstGeom prst="rect">
            <a:avLst/>
          </a:prstGeom>
          <a:solidFill>
            <a:srgbClr val="6D28D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1828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</a:t>
            </a:r>
            <a:b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0" y="1691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1371600"/>
            <a:ext cx="1234440" cy="100584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7220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1828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06640" y="1691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35240" y="1371600"/>
            <a:ext cx="123444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3524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35240" y="1828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object types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dashboards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Variables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Parallel Pipelines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246120"/>
            <a:ext cx="109728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Data Ingestion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246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US_IPO_Data_enriched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ipo_v2_enriched → preprocessed → transformed → cleaned → IPO Object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703320"/>
            <a:ext cx="109728" cy="3657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Pipeline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34640" y="3703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sp500_stock + companies + index → preprocessed → StockDailyPrice Object +Index Object +Company Object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160520"/>
            <a:ext cx="109728" cy="3657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72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4160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IPO_Full_ML_worthy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training/testing → 2 models → predictions + metrics + feature importance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 Data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DEMO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IPO Data Ingestion schedule in Data Lineage view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through: ingest → preprocess → join → clean → Ontology object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 2 input datasets, cross-dataset join on ticker, business validation rules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E5CBC8-ACF3-0A1E-ABF8-49F9FE2C3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4" t="18674" r="20654" b="2623"/>
          <a:stretch>
            <a:fillRect/>
          </a:stretch>
        </p:blipFill>
        <p:spPr>
          <a:xfrm>
            <a:off x="548640" y="1188720"/>
            <a:ext cx="8002270" cy="3365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S&amp;P 500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DEMO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S&amp;P500 Schedule in Data Lineage view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through: 3 inputs → preprocess → join with index → enriched → cleaned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 3 source datasets, daily_return via Window function, 400K rows / 161 tickers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999420-AFF7-ABC1-702F-05B43DCD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239" b="12239"/>
          <a:stretch/>
        </p:blipFill>
        <p:spPr>
          <a:xfrm>
            <a:off x="548640" y="1188720"/>
            <a:ext cx="8046720" cy="3322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Pipeline &amp; 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DEMO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ML Pipeline Schedule in Data Lineage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through: IPO_Full_ML_worthy → preprocessed → cleaned → training/testing split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pre_ipo_model + post_ipo_model → predictions + metrics + feature importance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show: IPO Predictions Modeling Objective with 2 model submissions + Evaluation Dashboard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98CBF9-7E19-6BDE-5019-B2FA567F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39" y="1200749"/>
            <a:ext cx="8046719" cy="32906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7C1BA-0BB1-E683-5099-72DF41293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2F55FD-40F8-713C-7526-242E11111C85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Data Lineage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E2D512-4AFC-0D1F-8762-16A4CCF84BAD}"/>
              </a:ext>
            </a:extLst>
          </p:cNvPr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D22F44-B704-9413-8ADD-4FF1AE24A872}"/>
              </a:ext>
            </a:extLst>
          </p:cNvPr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FFE0FC-4061-0A21-F000-92DFEFF3B632}"/>
              </a:ext>
            </a:extLst>
          </p:cNvPr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EFCEA7B-6BCD-4690-3CDC-FFF883D2603E}"/>
              </a:ext>
            </a:extLst>
          </p:cNvPr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CC8D1F-4C09-A7FD-6D34-6ED2019CEF92}"/>
              </a:ext>
            </a:extLst>
          </p:cNvPr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DEMO</a:t>
            </a:r>
            <a:endParaRPr lang="en-US" sz="3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B6559F-A226-2EC1-F0FE-8BA691D2D8B9}"/>
              </a:ext>
            </a:extLst>
          </p:cNvPr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ML Pipeline Schedule in Data Lineage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through: IPO_Full_ML_worthy → preprocessed → cleaned → training/testing split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pre_ipo_model + post_ipo_model → predictions + metrics + feature importance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960E85-39DA-45C9-AF09-0BB024F49EDA}"/>
              </a:ext>
            </a:extLst>
          </p:cNvPr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show: IPO Predictions Modeling Objective with 2 model submissions + Evaluation Dashboard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0DEA61-A6A1-54A7-EBE0-1FCCAA71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8138160" cy="337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65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F9519-F78D-B3F1-6929-411A25EB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AA3DE9-4C14-F23E-19E9-2F809065B8B7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Data Lineage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3A38F4-F0A6-24E1-DF4C-2ECB640C364E}"/>
              </a:ext>
            </a:extLst>
          </p:cNvPr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9E8419-5B39-A13A-7A73-25A03FA8CB8A}"/>
              </a:ext>
            </a:extLst>
          </p:cNvPr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CF7EFB-2CA5-E17A-3551-7F22643A6324}"/>
              </a:ext>
            </a:extLst>
          </p:cNvPr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901420-32C3-36CB-11FB-C4052C40BB63}"/>
              </a:ext>
            </a:extLst>
          </p:cNvPr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3C36D4-0095-12CF-FB64-BD7CFFE26D0F}"/>
              </a:ext>
            </a:extLst>
          </p:cNvPr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DEMO</a:t>
            </a:r>
            <a:endParaRPr lang="en-US" sz="3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3E7369-BE0E-3DE6-C532-00BC5BFEA99C}"/>
              </a:ext>
            </a:extLst>
          </p:cNvPr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ML Pipeline Schedule in Data Lineage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through: IPO_Full_ML_worthy → preprocessed → cleaned → training/testing split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pre_ipo_model + post_ipo_model → predictions + metrics + feature importance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DD18548-135C-31E8-8C01-E60EBA518A47}"/>
              </a:ext>
            </a:extLst>
          </p:cNvPr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show: IPO Predictions Modeling Objective with 2 model submissions + Evaluation Dashboard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D6BB65-DC1E-CA10-2B95-8E6A15E51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83540"/>
            <a:ext cx="8092440" cy="33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6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 Objects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E57F7EC-CCA1-302C-C699-DC3473037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7792278" cy="3556167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9FEA3D3-E09D-03F1-CB87-7A924B322082}"/>
              </a:ext>
            </a:extLst>
          </p:cNvPr>
          <p:cNvSpPr/>
          <p:nvPr/>
        </p:nvSpPr>
        <p:spPr>
          <a:xfrm>
            <a:off x="5775960" y="3261360"/>
            <a:ext cx="2438400" cy="1188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1BBD7-8150-6AE4-549B-C42130B5D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A44B8F-7ACA-9E18-C364-59C188C38A84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types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202696-CBB3-322E-851F-1D26315B8A6C}"/>
              </a:ext>
            </a:extLst>
          </p:cNvPr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A6E686-7A2C-C020-42E4-4622B1D56DF4}"/>
              </a:ext>
            </a:extLst>
          </p:cNvPr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197EF3-3DF0-5458-580E-B77F4E05CEE9}"/>
              </a:ext>
            </a:extLst>
          </p:cNvPr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FEB01BD-A8BF-77B7-A123-A874798BB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58240"/>
            <a:ext cx="7792278" cy="3070860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9DCB9280-DD00-B222-9119-E3F4F7857AA6}"/>
              </a:ext>
            </a:extLst>
          </p:cNvPr>
          <p:cNvSpPr/>
          <p:nvPr/>
        </p:nvSpPr>
        <p:spPr>
          <a:xfrm>
            <a:off x="457200" y="3774948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1027EAC-0E85-7EC3-D7D3-B4B4873B6D8A}"/>
              </a:ext>
            </a:extLst>
          </p:cNvPr>
          <p:cNvSpPr/>
          <p:nvPr/>
        </p:nvSpPr>
        <p:spPr>
          <a:xfrm>
            <a:off x="754380" y="38846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and Stock Daily Price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F42243C-83AB-8AA2-5982-58B8797EBBFE}"/>
              </a:ext>
            </a:extLst>
          </p:cNvPr>
          <p:cNvSpPr/>
          <p:nvPr/>
        </p:nvSpPr>
        <p:spPr>
          <a:xfrm>
            <a:off x="754380" y="41132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on ticker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B9FF2F1-4310-DDB8-0712-5F50F631078A}"/>
              </a:ext>
            </a:extLst>
          </p:cNvPr>
          <p:cNvSpPr/>
          <p:nvPr/>
        </p:nvSpPr>
        <p:spPr>
          <a:xfrm>
            <a:off x="4953000" y="3883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Daily Price and Index Price</a:t>
            </a: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14F1B8-1437-BAAE-5B9D-0CADF0528526}"/>
              </a:ext>
            </a:extLst>
          </p:cNvPr>
          <p:cNvSpPr/>
          <p:nvPr/>
        </p:nvSpPr>
        <p:spPr>
          <a:xfrm>
            <a:off x="4953000" y="4111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on date</a:t>
            </a:r>
          </a:p>
        </p:txBody>
      </p:sp>
    </p:spTree>
    <p:extLst>
      <p:ext uri="{BB962C8B-B14F-4D97-AF65-F5344CB8AC3E}">
        <p14:creationId xmlns:p14="http://schemas.microsoft.com/office/powerpoint/2010/main" val="2180087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D736F-0F4D-8283-E440-356ECAE51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4B8E87-A304-8951-6BE7-7D683728A356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types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E0F0B9A-E3BD-2C9E-6C55-9E8426F660A3}"/>
              </a:ext>
            </a:extLst>
          </p:cNvPr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BD2D7B-C544-0D98-6FF1-3F30347BB01A}"/>
              </a:ext>
            </a:extLst>
          </p:cNvPr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018BA9-EAA6-070E-C8A3-1E9CCC2B22F6}"/>
              </a:ext>
            </a:extLst>
          </p:cNvPr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F8D4AFD-20A8-A1D5-66C3-F0B6C8CEBF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49288"/>
            <a:ext cx="7792278" cy="2488764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E8049E30-895A-3EB6-68BE-E8156230E8B5}"/>
              </a:ext>
            </a:extLst>
          </p:cNvPr>
          <p:cNvSpPr/>
          <p:nvPr/>
        </p:nvSpPr>
        <p:spPr>
          <a:xfrm>
            <a:off x="457200" y="3774948"/>
            <a:ext cx="8046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D91D042-37E8-B6D3-F0CA-A200A57ABAFD}"/>
              </a:ext>
            </a:extLst>
          </p:cNvPr>
          <p:cNvSpPr/>
          <p:nvPr/>
        </p:nvSpPr>
        <p:spPr>
          <a:xfrm>
            <a:off x="754380" y="3884676"/>
            <a:ext cx="4434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IPO and Future IPO Feature Importance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CAFB7E4-08BE-DCC2-271C-F80D297CC8BF}"/>
              </a:ext>
            </a:extLst>
          </p:cNvPr>
          <p:cNvSpPr/>
          <p:nvPr/>
        </p:nvSpPr>
        <p:spPr>
          <a:xfrm>
            <a:off x="754380" y="41132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on ticker</a:t>
            </a:r>
          </a:p>
        </p:txBody>
      </p:sp>
    </p:spTree>
    <p:extLst>
      <p:ext uri="{BB962C8B-B14F-4D97-AF65-F5344CB8AC3E}">
        <p14:creationId xmlns:p14="http://schemas.microsoft.com/office/powerpoint/2010/main" val="1329202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D3E11-E043-006F-D3F0-0C8B8DB66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840EF1-3699-F016-9A71-1B1D72301578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FBEA61-F907-F620-B07F-4B9F99E83F91}"/>
              </a:ext>
            </a:extLst>
          </p:cNvPr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B2A594-27E2-27FF-FC7B-C85C9A680FC3}"/>
              </a:ext>
            </a:extLst>
          </p:cNvPr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8C9E04-1313-06B7-4A67-F5056E6EBCA3}"/>
              </a:ext>
            </a:extLst>
          </p:cNvPr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4266B3-778F-01A9-8A03-4354C4B86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8735"/>
            <a:ext cx="3867690" cy="600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D16CCB-7C88-35CA-A036-0CE47347A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03229"/>
            <a:ext cx="3553321" cy="600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9C1187-B625-ED84-82E0-EA1FED751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97723"/>
            <a:ext cx="4277322" cy="60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332EE7-E6E4-ACE7-F648-FBE2331AF2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962" y="2279414"/>
            <a:ext cx="3609378" cy="60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9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03960"/>
            <a:ext cx="7551420" cy="307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DEMO</a:t>
            </a:r>
            <a:endParaRPr lang="en-US" sz="6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45920"/>
            <a:ext cx="45720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93B"/>
                </a:solidFill>
                <a:latin typeface="Georgia" pitchFamily="34" charset="0"/>
              </a:rPr>
              <a:t>Thank You</a:t>
            </a:r>
          </a:p>
        </p:txBody>
      </p:sp>
      <p:sp>
        <p:nvSpPr>
          <p:cNvPr id="4" name="Text 2"/>
          <p:cNvSpPr/>
          <p:nvPr/>
        </p:nvSpPr>
        <p:spPr>
          <a:xfrm>
            <a:off x="9601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</a:rPr>
              <a:t>Questions?</a:t>
            </a:r>
          </a:p>
        </p:txBody>
      </p:sp>
      <p:sp>
        <p:nvSpPr>
          <p:cNvPr id="5" name="Text 3"/>
          <p:cNvSpPr/>
          <p:nvPr/>
        </p:nvSpPr>
        <p:spPr>
          <a:xfrm>
            <a:off x="9601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El Bikai  |  inmind.academy  |  March 26,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1249</Words>
  <Application>Microsoft Office PowerPoint</Application>
  <PresentationFormat>On-screen Show (16:9)</PresentationFormat>
  <Paragraphs>180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IPO Success Prediction &amp; Analysis Platform</dc:title>
  <dc:subject>PptxGenJS Presentation</dc:subject>
  <dc:creator>Peter El Bikai</dc:creator>
  <cp:lastModifiedBy>PETER I. EL BIKAI</cp:lastModifiedBy>
  <cp:revision>18</cp:revision>
  <dcterms:created xsi:type="dcterms:W3CDTF">2026-03-24T20:03:32Z</dcterms:created>
  <dcterms:modified xsi:type="dcterms:W3CDTF">2026-03-26T11:51:02Z</dcterms:modified>
</cp:coreProperties>
</file>